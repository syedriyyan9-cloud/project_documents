
<file path=[Content_Types].xml><?xml version="1.0" encoding="utf-8"?>
<Types xmlns="http://schemas.openxmlformats.org/package/2006/content-types">
  <Default Extension="xml" ContentType="application/xml"/>
  <Default Extension="m4v" ContentType="video/mp4"/>
  <Default Extension="jpeg" ContentType="image/jpeg"/>
  <Default Extension="fntdata" ContentType="application/x-fontdata"/>
  <Default Extension="rels" ContentType="application/vnd.openxmlformats-package.relationships+xml"/>
  <Default Extension="jpg" ContentType="image/jpg"/>
  <Default Extension="svg" ContentType="image/svg+xml"/>
  <Default Extension="gif" ContentType="image/gif"/>
  <Default Extension="png" ContentType="image/png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0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docProps/core.xml" ContentType="application/vnd.openxmlformats-package.core-properties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docProps/app.xml" ContentType="application/vnd.openxmlformats-officedocument.extended-properties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notesSlides/notesSlide8.xml" ContentType="application/vnd.openxmlformats-officedocument.presentationml.notes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notesSlides/notesSlide9.xml" ContentType="application/vnd.openxmlformats-officedocument.presentationml.notes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notesSlides/notesSlide6.xml" ContentType="application/vnd.openxmlformats-officedocument.presentationml.notes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notesSlides/notesSlide7.xml" ContentType="application/vnd.openxmlformats-officedocument.presentationml.notes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notesSlides/notesSlide14.xml" ContentType="application/vnd.openxmlformats-officedocument.presentationml.notesSlide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slides/slide13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6" r:id="rId8"/>
    <p:sldId id="267" r:id="rId9"/>
    <p:sldId id="268" r:id="rId10"/>
    <p:sldId id="269" r:id="rId11"/>
    <p:sldId id="261" r:id="rId12"/>
    <p:sldId id="262" r:id="rId13"/>
    <p:sldId id="263" r:id="rId14"/>
    <p:sldId id="264" r:id="rId15"/>
    <p:sldId id="265" r:id="rId16"/>
    <p:sldId id="270" r:id="rId17"/>
  </p:sldIdLst>
  <p:sldSz cx="12191695" cy="6858000" type="custom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tableStyles" Target="tableStyles.xml"/><Relationship Id="rId19" Type="http://schemas.openxmlformats.org/officeDocument/2006/relationships/presProps" Target="presProps.xml"/><Relationship Id="rId2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 noEditPoints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 noEditPoints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 noEditPoints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sldNum="0"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dt="0"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35000"/>
            </a:srgbClr>
          </a:solidFill>
        </p:spPr>
        <p:txBody>
          <a:bodyPr/>
          <a:lstStyle/>
          <a:p/>
        </p:txBody>
      </p:sp>
      <p:pic>
        <p:nvPicPr>
          <p:cNvPr id="3" name="Image 0" descr="preencoded.png">
            <a:hlinkClick r:id="rId1"/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  <p:hf dt="0"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1"/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  <p:hf dt="0" sldNum="0" hdr="0" ftr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dt="0"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4.png"/><Relationship Id="rId3" Type="http://schemas.openxmlformats.org/officeDocument/2006/relationships/image" Target="../media/image-2-5.jpe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who.int/teams/Global-Malaria-Programme/Reports/World-Malaria-Report-2024" TargetMode="External"/><Relationship Id="rId2" Type="http://schemas.openxmlformats.org/officeDocument/2006/relationships/hyperlink" Target="https://doi.org/10.1016/j.ijid.2025.107940" TargetMode="External"/><Relationship Id="rId3" Type="http://schemas.openxmlformats.org/officeDocument/2006/relationships/hyperlink" Target="https://www.ncbi.nlm.nih.gov/pmc/articles/PMC5907772/" TargetMode="External"/><Relationship Id="rId4" Type="http://schemas.openxmlformats.org/officeDocument/2006/relationships/hyperlink" Target="https://www.ncbi.nlm.nih.gov/pmc/articles/PMC10370704/" TargetMode="External"/><Relationship Id="rId5" Type="http://schemas.openxmlformats.org/officeDocument/2006/relationships/hyperlink" Target="https://doi.org/10.1007/978-3-642-48318-9" TargetMode="External"/><Relationship Id="rId6" Type="http://schemas.openxmlformats.org/officeDocument/2006/relationships/hyperlink" Target="https://www.kaggle.com/datasets/iarunava/cell-images-for-detecting-malaria" TargetMode="External"/><Relationship Id="rId7" Type="http://schemas.openxmlformats.org/officeDocument/2006/relationships/hyperlink" Target="https://data.mendeley.com/datasets/6fsrsk3mb8" TargetMode="External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017" cy="6858000"/>
          </a:xfrm>
          <a:prstGeom prst="rect">
            <a:avLst/>
          </a:prstGeom>
          <a:solidFill>
            <a:srgbClr val="1F4FE0"/>
          </a:solidFill>
        </p:spPr>
        <p:txBody>
          <a:bodyPr/>
          <a:lstStyle/>
          <a:p/>
        </p:txBody>
      </p:sp>
      <p:sp>
        <p:nvSpPr>
          <p:cNvPr id="3" name="Shape 1"/>
          <p:cNvSpPr/>
          <p:nvPr/>
        </p:nvSpPr>
        <p:spPr>
          <a:xfrm>
            <a:off x="711182" y="711200"/>
            <a:ext cx="3235244" cy="254000"/>
          </a:xfrm>
          <a:prstGeom prst="roundRect">
            <a:avLst>
              <a:gd name="adj" fmla="val 49999"/>
            </a:avLst>
          </a:prstGeom>
          <a:solidFill>
            <a:srgbClr val="D2DCF9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838179" y="771525"/>
            <a:ext cx="3590835" cy="1651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kern="100" spc="26" dirty="0">
                <a:solidFill>
                  <a:srgbClr val="101A3A"/>
                </a:solidFill>
                <a:latin typeface="Reddit Mono Medium" pitchFamily="34" charset="0"/>
                <a:ea typeface="Reddit Mono Medium" pitchFamily="34" charset="0"/>
                <a:cs typeface="Reddit Mono Medium" pitchFamily="34" charset="0"/>
              </a:rPr>
              <a:t>Final Year Project Presentation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11182" y="1616647"/>
            <a:ext cx="6045049" cy="119300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900" b="1" kern="100" spc="-43" dirty="0">
                <a:solidFill>
                  <a:srgbClr val="FFFFFF"/>
                </a:solidFill>
                <a:latin typeface="Parkinsans Bold" pitchFamily="34" charset="0"/>
                <a:ea typeface="Parkinsans Bold" pitchFamily="34" charset="0"/>
                <a:cs typeface="Parkinsans Bold" pitchFamily="34" charset="0"/>
              </a:rPr>
              <a:t>Identifying the Best Deployable Machine Learning Model for Malaria and Dengue Diagnosis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11182" y="3600271"/>
            <a:ext cx="6045049" cy="746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A Comparative Benchmarking and Deployment Framework for Low-Resource Healthcare Settings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11182" y="5026720"/>
            <a:ext cx="6045049" cy="122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University of South Asia</a:t>
            </a:r>
            <a:endParaRPr lang="en-US" sz="1600" dirty="0"/>
          </a:p>
          <a:p>
            <a:pPr marL="0" indent="0" algn="l">
              <a:lnSpc>
                <a:spcPct val="117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Department of Computer Science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2023 - 2027</a:t>
            </a:r>
            <a:endParaRPr lang="en-US" sz="1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5986"/>
            <a:ext cx="5430404" cy="5211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800" b="1" kern="100" spc="-57" dirty="0">
                <a:solidFill>
                  <a:srgbClr val="101A3A"/>
                </a:solidFill>
                <a:latin typeface="Parkinsans Bold" pitchFamily="34" charset="0"/>
                <a:ea typeface="Parkinsans Bold" pitchFamily="34" charset="0"/>
                <a:cs typeface="Parkinsans Bold" pitchFamily="34" charset="0"/>
              </a:rPr>
              <a:t>Project Team</a:t>
            </a:r>
            <a:endParaRPr lang="en-US" sz="3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09585" y="1643856"/>
            <a:ext cx="507987" cy="50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9712" y="1648936"/>
            <a:ext cx="4750276" cy="2844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Syed Riyyan Hassan (B-29398)</a:t>
            </a:r>
            <a:endParaRPr lang="en-US" sz="1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09585" y="2456656"/>
            <a:ext cx="507987" cy="508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89712" y="2461736"/>
            <a:ext cx="4750276" cy="2844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Muhammad Kamran (B-29197)</a:t>
            </a:r>
            <a:endParaRPr lang="en-US" sz="16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09585" y="3269456"/>
            <a:ext cx="507987" cy="5080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89712" y="3274536"/>
            <a:ext cx="4750276" cy="2844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Muhammad Awais   (B-28167)</a:t>
            </a:r>
            <a:endParaRPr lang="en-US" sz="16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09585" y="4082256"/>
            <a:ext cx="507987" cy="5080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289712" y="4087336"/>
            <a:ext cx="4750276" cy="2844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Supervisor: M. Waqas Ishaq</a:t>
            </a:r>
            <a:endParaRPr lang="en-US" sz="16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106663" y="1333500"/>
            <a:ext cx="3143171" cy="4191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5986"/>
            <a:ext cx="6408280" cy="10423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800" b="1" kern="100" spc="-57" dirty="0">
                <a:solidFill>
                  <a:srgbClr val="101A3A"/>
                </a:solidFill>
                <a:latin typeface="Parkinsans Bold" pitchFamily="34" charset="0"/>
                <a:ea typeface="Parkinsans Bold" pitchFamily="34" charset="0"/>
                <a:cs typeface="Parkinsans Bold" pitchFamily="34" charset="0"/>
              </a:rPr>
              <a:t>Introduction and Background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09585" y="1919288"/>
            <a:ext cx="111718" cy="111720"/>
          </a:xfrm>
          <a:prstGeom prst="ellipse">
            <a:avLst/>
          </a:prstGeom>
          <a:solidFill>
            <a:srgbClr val="1F4FE0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924497" y="1857097"/>
            <a:ext cx="6093367" cy="2400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50" dirty="0">
                <a:solidFill>
                  <a:srgbClr val="101A3A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Malaria and dengue are endemic in Pakistan and South Asia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585" y="2457450"/>
            <a:ext cx="111718" cy="111720"/>
          </a:xfrm>
          <a:prstGeom prst="ellipse">
            <a:avLst/>
          </a:prstGeom>
          <a:solidFill>
            <a:srgbClr val="1F4FE0"/>
          </a:solidFill>
        </p:spPr>
        <p:txBody>
          <a:bodyPr/>
          <a:lstStyle/>
          <a:p/>
        </p:txBody>
      </p:sp>
      <p:sp>
        <p:nvSpPr>
          <p:cNvPr id="6" name="Text 4"/>
          <p:cNvSpPr/>
          <p:nvPr/>
        </p:nvSpPr>
        <p:spPr>
          <a:xfrm>
            <a:off x="924497" y="2395260"/>
            <a:ext cx="6093367" cy="2400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50" dirty="0">
                <a:solidFill>
                  <a:srgbClr val="101A3A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Both begin as undifferentiated fever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585" y="2995613"/>
            <a:ext cx="111718" cy="111720"/>
          </a:xfrm>
          <a:prstGeom prst="ellipse">
            <a:avLst/>
          </a:prstGeom>
          <a:solidFill>
            <a:srgbClr val="1F4FE0"/>
          </a:solidFill>
        </p:spPr>
        <p:txBody>
          <a:bodyPr/>
          <a:lstStyle/>
          <a:p/>
        </p:txBody>
      </p:sp>
      <p:sp>
        <p:nvSpPr>
          <p:cNvPr id="8" name="Text 6"/>
          <p:cNvSpPr/>
          <p:nvPr/>
        </p:nvSpPr>
        <p:spPr>
          <a:xfrm>
            <a:off x="924497" y="2933422"/>
            <a:ext cx="6093367" cy="2400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50" b="1" dirty="0">
                <a:solidFill>
                  <a:srgbClr val="101A3A"/>
                </a:solidFill>
                <a:latin typeface="Reddit Sans Bold" pitchFamily="34" charset="0"/>
                <a:ea typeface="Reddit Sans Bold" pitchFamily="34" charset="0"/>
                <a:cs typeface="Reddit Sans Bold" pitchFamily="34" charset="0"/>
              </a:rPr>
              <a:t>263 million</a:t>
            </a:r>
            <a:r>
              <a:rPr lang="en-US" sz="1350" dirty="0">
                <a:solidFill>
                  <a:srgbClr val="101A3A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 malaria cases and </a:t>
            </a:r>
            <a:r>
              <a:rPr lang="en-US" sz="1350" b="1" dirty="0">
                <a:solidFill>
                  <a:srgbClr val="101A3A"/>
                </a:solidFill>
                <a:latin typeface="Reddit Sans Bold" pitchFamily="34" charset="0"/>
                <a:ea typeface="Reddit Sans Bold" pitchFamily="34" charset="0"/>
                <a:cs typeface="Reddit Sans Bold" pitchFamily="34" charset="0"/>
              </a:rPr>
              <a:t>~597,000</a:t>
            </a:r>
            <a:r>
              <a:rPr lang="en-US" sz="1350" dirty="0">
                <a:solidFill>
                  <a:srgbClr val="101A3A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 deaths (WHO, 2023)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585" y="3533775"/>
            <a:ext cx="111718" cy="111720"/>
          </a:xfrm>
          <a:prstGeom prst="ellipse">
            <a:avLst/>
          </a:prstGeom>
          <a:solidFill>
            <a:srgbClr val="1F4FE0"/>
          </a:solidFill>
        </p:spPr>
        <p:txBody>
          <a:bodyPr/>
          <a:lstStyle/>
          <a:p/>
        </p:txBody>
      </p:sp>
      <p:sp>
        <p:nvSpPr>
          <p:cNvPr id="10" name="Text 8"/>
          <p:cNvSpPr/>
          <p:nvPr/>
        </p:nvSpPr>
        <p:spPr>
          <a:xfrm>
            <a:off x="924497" y="3471585"/>
            <a:ext cx="6093367" cy="2400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50" b="1" dirty="0">
                <a:solidFill>
                  <a:srgbClr val="101A3A"/>
                </a:solidFill>
                <a:latin typeface="Reddit Sans Bold" pitchFamily="34" charset="0"/>
                <a:ea typeface="Reddit Sans Bold" pitchFamily="34" charset="0"/>
                <a:cs typeface="Reddit Sans Bold" pitchFamily="34" charset="0"/>
              </a:rPr>
              <a:t>14 million+</a:t>
            </a:r>
            <a:r>
              <a:rPr lang="en-US" sz="1350" dirty="0">
                <a:solidFill>
                  <a:srgbClr val="101A3A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 dengue cases (2024)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09585" y="4071938"/>
            <a:ext cx="111718" cy="111720"/>
          </a:xfrm>
          <a:prstGeom prst="ellipse">
            <a:avLst/>
          </a:prstGeom>
          <a:solidFill>
            <a:srgbClr val="1F4FE0"/>
          </a:solidFill>
        </p:spPr>
        <p:txBody>
          <a:bodyPr/>
          <a:lstStyle/>
          <a:p/>
        </p:txBody>
      </p:sp>
      <p:sp>
        <p:nvSpPr>
          <p:cNvPr id="12" name="Text 10"/>
          <p:cNvSpPr/>
          <p:nvPr/>
        </p:nvSpPr>
        <p:spPr>
          <a:xfrm>
            <a:off x="924497" y="4009747"/>
            <a:ext cx="6093367" cy="2400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50" dirty="0">
                <a:solidFill>
                  <a:srgbClr val="101A3A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Malaria microscopy depends on microscopist skill and workload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09585" y="4610100"/>
            <a:ext cx="111718" cy="111720"/>
          </a:xfrm>
          <a:prstGeom prst="ellipse">
            <a:avLst/>
          </a:prstGeom>
          <a:solidFill>
            <a:srgbClr val="1F4FE0"/>
          </a:solidFill>
        </p:spPr>
        <p:txBody>
          <a:bodyPr/>
          <a:lstStyle/>
          <a:p/>
        </p:txBody>
      </p:sp>
      <p:sp>
        <p:nvSpPr>
          <p:cNvPr id="14" name="Text 12"/>
          <p:cNvSpPr/>
          <p:nvPr/>
        </p:nvSpPr>
        <p:spPr>
          <a:xfrm>
            <a:off x="924497" y="4547910"/>
            <a:ext cx="6093367" cy="2400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50" dirty="0">
                <a:solidFill>
                  <a:srgbClr val="101A3A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Dengue tests (NS1/serology) are often unavailable in small facilities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09585" y="5148362"/>
            <a:ext cx="111718" cy="111720"/>
          </a:xfrm>
          <a:prstGeom prst="ellipse">
            <a:avLst/>
          </a:prstGeom>
          <a:solidFill>
            <a:srgbClr val="1F4FE0"/>
          </a:solidFill>
        </p:spPr>
        <p:txBody>
          <a:bodyPr/>
          <a:lstStyle/>
          <a:p/>
        </p:txBody>
      </p:sp>
      <p:sp>
        <p:nvSpPr>
          <p:cNvPr id="16" name="Text 14"/>
          <p:cNvSpPr/>
          <p:nvPr/>
        </p:nvSpPr>
        <p:spPr>
          <a:xfrm>
            <a:off x="924497" y="5086171"/>
            <a:ext cx="6093367" cy="2400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50" dirty="0">
                <a:solidFill>
                  <a:srgbClr val="101A3A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ML achieves high accuracy on smear images and routine blood values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09585" y="5686623"/>
            <a:ext cx="111718" cy="111720"/>
          </a:xfrm>
          <a:prstGeom prst="ellipse">
            <a:avLst/>
          </a:prstGeom>
          <a:solidFill>
            <a:srgbClr val="1F4FE0"/>
          </a:solidFill>
        </p:spPr>
        <p:txBody>
          <a:bodyPr/>
          <a:lstStyle/>
          <a:p/>
        </p:txBody>
      </p:sp>
      <p:sp>
        <p:nvSpPr>
          <p:cNvPr id="18" name="Text 16"/>
          <p:cNvSpPr/>
          <p:nvPr/>
        </p:nvSpPr>
        <p:spPr>
          <a:xfrm>
            <a:off x="924497" y="5624433"/>
            <a:ext cx="6093367" cy="4800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50" dirty="0">
                <a:solidFill>
                  <a:srgbClr val="101A3A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But studies use different splits and preprocessing, and rarely measure latency, memory, calibration, or explainability</a:t>
            </a:r>
            <a:endParaRPr lang="en-US" sz="135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084538" y="0"/>
            <a:ext cx="410715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5986"/>
            <a:ext cx="10972526" cy="5211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800" b="1" kern="100" spc="-57" dirty="0">
                <a:solidFill>
                  <a:srgbClr val="101A3A"/>
                </a:solidFill>
                <a:latin typeface="Parkinsans Bold" pitchFamily="34" charset="0"/>
                <a:ea typeface="Parkinsans Bold" pitchFamily="34" charset="0"/>
                <a:cs typeface="Parkinsans Bold" pitchFamily="34" charset="0"/>
              </a:rPr>
              <a:t>Problem Statement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09585" y="1562596"/>
            <a:ext cx="5257668" cy="157470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2400" dirty="0">
                <a:solidFill>
                  <a:srgbClr val="101A3A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No standard protocol exists for choosing a deployable model in low-resource settings</a:t>
            </a:r>
            <a:endParaRPr lang="en-US" sz="24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2400" dirty="0">
                <a:solidFill>
                  <a:srgbClr val="101A3A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Literature is not comparable across studies</a:t>
            </a:r>
            <a:endParaRPr lang="en-US" sz="24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2400" dirty="0">
                <a:solidFill>
                  <a:srgbClr val="101A3A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Deployment constraints are ignored</a:t>
            </a:r>
            <a:endParaRPr lang="en-US" sz="24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2400" dirty="0">
                <a:solidFill>
                  <a:srgbClr val="101A3A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Result: model selection defaults to peak accuracy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38739" y="1562596"/>
            <a:ext cx="5257668" cy="3318204"/>
          </a:xfrm>
          <a:prstGeom prst="rect">
            <a:avLst/>
          </a:prstGeom>
          <a:solidFill>
            <a:srgbClr val="FFF1E5"/>
          </a:solidFill>
        </p:spPr>
        <p:txBody>
          <a:bodyPr/>
          <a:lstStyle/>
          <a:p/>
        </p:txBody>
      </p:sp>
      <p:sp>
        <p:nvSpPr>
          <p:cNvPr id="5" name="Text 3"/>
          <p:cNvSpPr/>
          <p:nvPr/>
        </p:nvSpPr>
        <p:spPr>
          <a:xfrm>
            <a:off x="6553036" y="1567676"/>
            <a:ext cx="5029074" cy="2844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Peak accuracy can favor models that are: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53036" y="2138759"/>
            <a:ext cx="4800480" cy="12902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Slow</a:t>
            </a:r>
            <a:endParaRPr lang="en-US" sz="24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Large</a:t>
            </a:r>
            <a:endParaRPr lang="en-US" sz="24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Overconfident</a:t>
            </a:r>
            <a:endParaRPr lang="en-US" sz="24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Unexplainable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53036" y="4275348"/>
            <a:ext cx="5143371" cy="87453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Reddit Sans Bold" pitchFamily="34" charset="0"/>
                <a:ea typeface="Reddit Sans Bold" pitchFamily="34" charset="0"/>
                <a:cs typeface="Reddit Sans Bold" pitchFamily="34" charset="0"/>
              </a:rPr>
              <a:t>Accuracy alone is the wrong selection </a:t>
            </a:r>
          </a:p>
          <a:p>
            <a:pPr marL="0" indent="0" algn="l">
              <a:lnSpc>
                <a:spcPct val="117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Reddit Sans Bold" pitchFamily="34" charset="0"/>
                <a:ea typeface="Reddit Sans Bold" pitchFamily="34" charset="0"/>
                <a:cs typeface="Reddit Sans Bold" pitchFamily="34" charset="0"/>
              </a:rPr>
              <a:t>criterion.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5986"/>
            <a:ext cx="10972526" cy="10423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800" b="1" kern="100" spc="-57" dirty="0">
                <a:solidFill>
                  <a:srgbClr val="101A3A"/>
                </a:solidFill>
                <a:latin typeface="Parkinsans Bold" pitchFamily="34" charset="0"/>
                <a:ea typeface="Parkinsans Bold" pitchFamily="34" charset="0"/>
                <a:cs typeface="Parkinsans Bold" pitchFamily="34" charset="0"/>
              </a:rPr>
              <a:t>Existing Work: Reported Accuracy Benchmarks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09585" y="1855192"/>
            <a:ext cx="4267093" cy="3947373"/>
          </a:xfrm>
          <a:prstGeom prst="rect">
            <a:avLst/>
          </a:prstGeom>
          <a:solidFill>
            <a:srgbClr val="1F4FE0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740713" y="2114272"/>
            <a:ext cx="3809905" cy="4114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800" b="1" kern="100" spc="-45" dirty="0">
                <a:solidFill>
                  <a:srgbClr val="FFFFFF"/>
                </a:solidFill>
                <a:latin typeface="Parkinsans Bold" pitchFamily="34" charset="0"/>
                <a:ea typeface="Parkinsans Bold" pitchFamily="34" charset="0"/>
                <a:cs typeface="Parkinsans Bold" pitchFamily="34" charset="0"/>
              </a:rPr>
              <a:t>Malaria: NIH cell-image</a:t>
            </a:r>
          </a:p>
          <a:p>
            <a:pPr marL="0" indent="0" algn="l">
              <a:lnSpc>
                <a:spcPct val="90000"/>
              </a:lnSpc>
              <a:buNone/>
            </a:pPr>
            <a:r>
              <a:rPr lang="en-US" sz="2800" b="1" kern="100" spc="-45" dirty="0">
                <a:solidFill>
                  <a:srgbClr val="FFFFFF"/>
                </a:solidFill>
                <a:latin typeface="Parkinsans Bold" pitchFamily="34" charset="0"/>
                <a:ea typeface="Parkinsans Bold" pitchFamily="34" charset="0"/>
                <a:cs typeface="Parkinsans Bold" pitchFamily="34" charset="0"/>
              </a:rPr>
              <a:t>dataset (27,558 images)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181371" y="1855192"/>
            <a:ext cx="6400739" cy="3947373"/>
          </a:xfrm>
          <a:prstGeom prst="roundRect">
            <a:avLst>
              <a:gd name="adj" fmla="val 4163"/>
            </a:avLst>
          </a:prstGeom>
          <a:solidFill>
            <a:srgbClr val="D2DCF9"/>
          </a:solidFill>
        </p:spPr>
        <p:txBody>
          <a:bodyPr/>
          <a:lstStyle/>
          <a:p/>
        </p:txBody>
      </p:sp>
      <p:sp>
        <p:nvSpPr>
          <p:cNvPr id="10" name="Text 8"/>
          <p:cNvSpPr/>
          <p:nvPr/>
        </p:nvSpPr>
        <p:spPr>
          <a:xfrm>
            <a:off x="5409965" y="2114272"/>
            <a:ext cx="5943551" cy="82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45" dirty="0">
                <a:solidFill>
                  <a:srgbClr val="101A3A"/>
                </a:solidFill>
                <a:latin typeface="Parkinsans Bold" pitchFamily="34" charset="0"/>
                <a:ea typeface="Parkinsans Bold" pitchFamily="34" charset="0"/>
                <a:cs typeface="Parkinsans Bold" pitchFamily="34" charset="0"/>
              </a:rPr>
              <a:t>Dengue: routine blood values (CBC)</a:t>
            </a:r>
            <a:endParaRPr lang="en-US" sz="3000" dirty="0"/>
          </a:p>
        </p:txBody>
      </p:sp>
      <p:sp>
        <p:nvSpPr>
          <p:cNvPr id="12" name="TextBox 11"/>
          <p:cNvSpPr txBox="1"/>
          <p:nvPr/>
        </p:nvSpPr>
        <p:spPr>
          <a:xfrm>
            <a:off x="740713" y="3279955"/>
            <a:ext cx="3809905" cy="1611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000">
                <a:solidFill>
                  <a:schemeClr val="bg1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Baseline CNN: ~92–96%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>
                <a:solidFill>
                  <a:schemeClr val="bg1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MobileNetV2: ~93.5%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>
                <a:solidFill>
                  <a:schemeClr val="bg1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ResNet-50 (transfer learning): ~96%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>
                <a:solidFill>
                  <a:schemeClr val="bg1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Xception: &gt;97%</a:t>
            </a:r>
            <a:endParaRPr lang="en-US">
              <a:solidFill>
                <a:schemeClr val="bg1"/>
              </a:solidFill>
              <a:latin typeface="Reddit Sans" pitchFamily="34" charset="0"/>
              <a:ea typeface="Reddit Sans" pitchFamily="34" charset="0"/>
              <a:cs typeface="Reddit Sans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09964" y="3279955"/>
            <a:ext cx="6172147" cy="2221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000">
                <a:solidFill>
                  <a:schemeClr val="tx1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Random Forest: ~84.5% (1,523 patients, Bangladesh)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>
                <a:solidFill>
                  <a:schemeClr val="tx1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XGBoost: ~81–87% (same dataset size, different papers)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>
                <a:solidFill>
                  <a:schemeClr val="tx1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Random Forest: ~85% (Brazil)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>
                <a:solidFill>
                  <a:schemeClr val="tx1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XGBoost / LightGBM: AUC &gt;0.90 (49,679 patients, Puerto Rico)</a:t>
            </a:r>
            <a:endParaRPr lang="en-US">
              <a:solidFill>
                <a:schemeClr val="tx1"/>
              </a:solidFill>
              <a:latin typeface="Reddit Sans" pitchFamily="34" charset="0"/>
              <a:ea typeface="Reddit Sans" pitchFamily="34" charset="0"/>
              <a:cs typeface="Reddit Sans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9585" y="5969379"/>
            <a:ext cx="10972525" cy="697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Reddit Sans" pitchFamily="34" charset="0"/>
                <a:ea typeface="Reddit Sans" pitchFamily="34" charset="0"/>
                <a:cs typeface="Reddit Sans" pitchFamily="34" charset="0"/>
              </a:rPr>
              <a:t>Accuracy varies widely because every study uses a different dataset, split and preprocessing.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7"/>
          <p:cNvSpPr/>
          <p:nvPr/>
        </p:nvSpPr>
        <p:spPr>
          <a:xfrm>
            <a:off x="40245" y="59587"/>
            <a:ext cx="12111207" cy="6738785"/>
          </a:xfrm>
          <a:prstGeom prst="roundRect">
            <a:avLst>
              <a:gd name="adj" fmla="val 4163"/>
            </a:avLst>
          </a:prstGeom>
          <a:solidFill>
            <a:srgbClr val="D2DCF9"/>
          </a:solidFill>
        </p:spPr>
        <p:txBody>
          <a:bodyPr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07991" y="1512729"/>
            <a:ext cx="10972525" cy="4406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itchFamily="34" charset="0"/>
              <a:buChar char="•"/>
            </a:pPr>
            <a:r>
              <a:rPr lang="en-US" sz="2400" b="0">
                <a:latin typeface="Reddit Sans" pitchFamily="34" charset="0"/>
                <a:ea typeface="Reddit Sans" pitchFamily="34" charset="0"/>
                <a:cs typeface="Reddit Sans" pitchFamily="34" charset="0"/>
              </a:rPr>
              <a:t>Results are not comparable: different datasets, splits and preprocessing</a:t>
            </a:r>
          </a:p>
          <a:p>
            <a:pPr marL="342900" indent="-342900">
              <a:lnSpc>
                <a:spcPct val="200000"/>
              </a:lnSpc>
              <a:buFont typeface="Arial" pitchFamily="34" charset="0"/>
              <a:buChar char="•"/>
            </a:pPr>
            <a:r>
              <a:rPr lang="en-US" sz="2400" b="0">
                <a:latin typeface="Reddit Sans" pitchFamily="34" charset="0"/>
                <a:ea typeface="Reddit Sans" pitchFamily="34" charset="0"/>
                <a:cs typeface="Reddit Sans" pitchFamily="34" charset="0"/>
              </a:rPr>
              <a:t>Accuracy is reported alone; latency, memory, calibration and explainability are rarely measured</a:t>
            </a:r>
          </a:p>
          <a:p>
            <a:pPr marL="342900" indent="-342900">
              <a:lnSpc>
                <a:spcPct val="200000"/>
              </a:lnSpc>
              <a:buFont typeface="Arial" pitchFamily="34" charset="0"/>
              <a:buChar char="•"/>
            </a:pPr>
            <a:r>
              <a:rPr lang="en-US" sz="2400" b="0">
                <a:latin typeface="Reddit Sans" pitchFamily="34" charset="0"/>
                <a:ea typeface="Reddit Sans" pitchFamily="34" charset="0"/>
                <a:cs typeface="Reddit Sans" pitchFamily="34" charset="0"/>
              </a:rPr>
              <a:t>Clinical validation is limited</a:t>
            </a:r>
          </a:p>
          <a:p>
            <a:pPr marL="342900" indent="-342900">
              <a:lnSpc>
                <a:spcPct val="200000"/>
              </a:lnSpc>
              <a:buFont typeface="Arial" pitchFamily="34" charset="0"/>
              <a:buChar char="•"/>
            </a:pPr>
            <a:r>
              <a:rPr lang="en-US" sz="2400" b="0">
                <a:latin typeface="Reddit Sans" pitchFamily="34" charset="0"/>
                <a:ea typeface="Reddit Sans" pitchFamily="34" charset="0"/>
                <a:cs typeface="Reddit Sans" pitchFamily="34" charset="0"/>
              </a:rPr>
              <a:t>Dengue models struggle on real febrile patients</a:t>
            </a:r>
          </a:p>
          <a:p>
            <a:pPr marL="342900" indent="-342900">
              <a:lnSpc>
                <a:spcPct val="200000"/>
              </a:lnSpc>
              <a:buFont typeface="Arial" pitchFamily="34" charset="0"/>
              <a:buChar char="•"/>
            </a:pPr>
            <a:r>
              <a:rPr lang="en-US" sz="2400" b="0">
                <a:latin typeface="Reddit Sans" pitchFamily="34" charset="0"/>
                <a:ea typeface="Reddit Sans" pitchFamily="34" charset="0"/>
                <a:cs typeface="Reddit Sans" pitchFamily="34" charset="0"/>
              </a:rPr>
              <a:t>No method exists for choosing which model to deploy</a:t>
            </a:r>
          </a:p>
        </p:txBody>
      </p:sp>
      <p:sp>
        <p:nvSpPr>
          <p:cNvPr id="15" name="Text 0"/>
          <p:cNvSpPr/>
          <p:nvPr/>
        </p:nvSpPr>
        <p:spPr>
          <a:xfrm>
            <a:off x="307991" y="470337"/>
            <a:ext cx="10972526" cy="10423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3800" b="1" kern="100" spc="-57" dirty="0">
                <a:solidFill>
                  <a:srgbClr val="101A3A"/>
                </a:solidFill>
                <a:latin typeface="Parkinsans Bold" pitchFamily="34" charset="0"/>
                <a:ea typeface="Parkinsans Bold" pitchFamily="34" charset="0"/>
                <a:cs typeface="Parkinsans Bold" pitchFamily="34" charset="0"/>
              </a:rPr>
              <a:t>Research Gaps</a:t>
            </a:r>
            <a:endParaRPr lang="en-US" sz="38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5986"/>
            <a:ext cx="10972526" cy="5211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800" b="1" kern="100" spc="-57" dirty="0">
                <a:solidFill>
                  <a:srgbClr val="101A3A"/>
                </a:solidFill>
                <a:latin typeface="Parkinsans Bold" pitchFamily="34" charset="0"/>
                <a:ea typeface="Parkinsans Bold" pitchFamily="34" charset="0"/>
                <a:cs typeface="Parkinsans Bold" pitchFamily="34" charset="0"/>
              </a:rPr>
              <a:t>Proposed Solution and Novelty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09585" y="1364476"/>
            <a:ext cx="4267093" cy="4114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45" dirty="0">
                <a:solidFill>
                  <a:srgbClr val="101A3A"/>
                </a:solidFill>
                <a:latin typeface="Parkinsans Bold" pitchFamily="34" charset="0"/>
                <a:ea typeface="Parkinsans Bold" pitchFamily="34" charset="0"/>
                <a:cs typeface="Parkinsans Bold" pitchFamily="34" charset="0"/>
              </a:rPr>
              <a:t>Proposed Solution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36478" y="1994357"/>
            <a:ext cx="692430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b="1" dirty="0">
                <a:solidFill>
                  <a:srgbClr val="1F4FE0"/>
                </a:solidFill>
                <a:latin typeface="Reddit Sans SemiBold" pitchFamily="34" charset="0"/>
                <a:ea typeface="Reddit Sans SemiBold" pitchFamily="34" charset="0"/>
                <a:cs typeface="Reddit Sans SemiBold" pitchFamily="34" charset="0"/>
              </a:rPr>
              <a:t>1</a:t>
            </a:r>
            <a:endParaRPr lang="en-US" sz="2000" b="1" dirty="0"/>
          </a:p>
        </p:txBody>
      </p:sp>
      <p:sp>
        <p:nvSpPr>
          <p:cNvPr id="5" name="Text 3"/>
          <p:cNvSpPr/>
          <p:nvPr/>
        </p:nvSpPr>
        <p:spPr>
          <a:xfrm>
            <a:off x="799957" y="1953736"/>
            <a:ext cx="3940573" cy="4876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dirty="0">
                <a:solidFill>
                  <a:srgbClr val="101A3A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Build one lightweight custom model </a:t>
            </a:r>
          </a:p>
          <a:p>
            <a:pPr marL="0" indent="0" algn="l">
              <a:lnSpc>
                <a:spcPct val="117000"/>
              </a:lnSpc>
              <a:buNone/>
            </a:pPr>
            <a:r>
              <a:rPr lang="en-US" sz="2000" dirty="0">
                <a:solidFill>
                  <a:srgbClr val="101A3A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per disease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36478" y="2916006"/>
            <a:ext cx="726958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b="1" dirty="0">
                <a:solidFill>
                  <a:srgbClr val="1F4FE0"/>
                </a:solidFill>
                <a:latin typeface="Reddit Sans SemiBold" pitchFamily="34" charset="0"/>
                <a:ea typeface="Reddit Sans SemiBold" pitchFamily="34" charset="0"/>
                <a:cs typeface="Reddit Sans SemiBold" pitchFamily="34" charset="0"/>
              </a:rPr>
              <a:t>2</a:t>
            </a:r>
            <a:endParaRPr lang="en-US" sz="2000" b="1" dirty="0"/>
          </a:p>
        </p:txBody>
      </p:sp>
      <p:sp>
        <p:nvSpPr>
          <p:cNvPr id="7" name="Text 5"/>
          <p:cNvSpPr/>
          <p:nvPr/>
        </p:nvSpPr>
        <p:spPr>
          <a:xfrm>
            <a:off x="769571" y="2834746"/>
            <a:ext cx="3946525" cy="568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dirty="0">
                <a:solidFill>
                  <a:srgbClr val="101A3A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Benchmark it against 2 established models per disease under one protocol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75706" y="4065607"/>
            <a:ext cx="726362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b="1" dirty="0">
                <a:solidFill>
                  <a:srgbClr val="1F4FE0"/>
                </a:solidFill>
                <a:latin typeface="Reddit Sans SemiBold" pitchFamily="34" charset="0"/>
                <a:ea typeface="Reddit Sans SemiBold" pitchFamily="34" charset="0"/>
                <a:cs typeface="Reddit Sans SemiBold" pitchFamily="34" charset="0"/>
              </a:rPr>
              <a:t>3</a:t>
            </a:r>
            <a:endParaRPr lang="en-US" sz="2000" b="1" dirty="0"/>
          </a:p>
        </p:txBody>
      </p:sp>
      <p:sp>
        <p:nvSpPr>
          <p:cNvPr id="9" name="Text 7"/>
          <p:cNvSpPr/>
          <p:nvPr/>
        </p:nvSpPr>
        <p:spPr>
          <a:xfrm>
            <a:off x="769571" y="3968929"/>
            <a:ext cx="3947121" cy="568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dirty="0">
                <a:solidFill>
                  <a:srgbClr val="101A3A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Score all models on diagnostic and deployment criteria with TOPSIS (Deployability Score)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5706" y="5405663"/>
            <a:ext cx="732911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b="1" dirty="0">
                <a:solidFill>
                  <a:srgbClr val="1F4FE0"/>
                </a:solidFill>
                <a:latin typeface="Reddit Sans SemiBold" pitchFamily="34" charset="0"/>
                <a:ea typeface="Reddit Sans SemiBold" pitchFamily="34" charset="0"/>
                <a:cs typeface="Reddit Sans SemiBold" pitchFamily="34" charset="0"/>
              </a:rPr>
              <a:t>4</a:t>
            </a:r>
            <a:endParaRPr lang="en-US" sz="2000" b="1" dirty="0"/>
          </a:p>
        </p:txBody>
      </p:sp>
      <p:sp>
        <p:nvSpPr>
          <p:cNvPr id="11" name="Text 9"/>
          <p:cNvSpPr/>
          <p:nvPr/>
        </p:nvSpPr>
        <p:spPr>
          <a:xfrm>
            <a:off x="775523" y="5324403"/>
            <a:ext cx="3940573" cy="568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dirty="0">
                <a:solidFill>
                  <a:srgbClr val="101A3A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Compress the top model per disease and demonstrate it in a prototype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181371" y="1364476"/>
            <a:ext cx="6400739" cy="4114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45" dirty="0">
                <a:solidFill>
                  <a:srgbClr val="101A3A"/>
                </a:solidFill>
                <a:latin typeface="Parkinsans Bold" pitchFamily="34" charset="0"/>
                <a:ea typeface="Parkinsans Bold" pitchFamily="34" charset="0"/>
                <a:cs typeface="Parkinsans Bold" pitchFamily="34" charset="0"/>
              </a:rPr>
              <a:t>Novelty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5181371" y="1953736"/>
            <a:ext cx="6400739" cy="2844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dirty="0">
                <a:solidFill>
                  <a:srgbClr val="101A3A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Deployability, not accuracy, as the selection criterion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181371" y="2834746"/>
            <a:ext cx="6400739" cy="568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b="0" dirty="0">
                <a:solidFill>
                  <a:srgbClr val="101A3A"/>
                </a:solidFill>
                <a:latin typeface="Reddit Sans Bold" pitchFamily="34" charset="0"/>
                <a:ea typeface="Reddit Sans Bold" pitchFamily="34" charset="0"/>
                <a:cs typeface="Reddit Sans Bold" pitchFamily="34" charset="0"/>
              </a:rPr>
              <a:t>Clinical sensitivity gate (90% malaria, 85% dengue)</a:t>
            </a:r>
            <a:endParaRPr lang="en-US" sz="2000" b="0" dirty="0"/>
          </a:p>
        </p:txBody>
      </p:sp>
      <p:sp>
        <p:nvSpPr>
          <p:cNvPr id="19" name="Text 17"/>
          <p:cNvSpPr/>
          <p:nvPr/>
        </p:nvSpPr>
        <p:spPr>
          <a:xfrm>
            <a:off x="5181371" y="3968929"/>
            <a:ext cx="6400739" cy="568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b="0" dirty="0">
                <a:solidFill>
                  <a:srgbClr val="101A3A"/>
                </a:solidFill>
                <a:latin typeface="Reddit Sans Bold" pitchFamily="34" charset="0"/>
                <a:ea typeface="Reddit Sans Bold" pitchFamily="34" charset="0"/>
                <a:cs typeface="Reddit Sans Bold" pitchFamily="34" charset="0"/>
              </a:rPr>
              <a:t>Ranking-stability testing (weights varied ±10%)</a:t>
            </a:r>
            <a:endParaRPr lang="en-US" sz="2000" b="0" dirty="0"/>
          </a:p>
        </p:txBody>
      </p:sp>
      <p:sp>
        <p:nvSpPr>
          <p:cNvPr id="20" name="Text 18"/>
          <p:cNvSpPr/>
          <p:nvPr/>
        </p:nvSpPr>
        <p:spPr>
          <a:xfrm>
            <a:off x="5181371" y="5405663"/>
            <a:ext cx="6400739" cy="568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b="0" dirty="0">
                <a:solidFill>
                  <a:srgbClr val="101A3A"/>
                </a:solidFill>
                <a:latin typeface="Reddit Sans Bold" pitchFamily="34" charset="0"/>
                <a:ea typeface="Reddit Sans Bold" pitchFamily="34" charset="0"/>
                <a:cs typeface="Reddit Sans Bold" pitchFamily="34" charset="0"/>
              </a:rPr>
              <a:t>Custom lightweight models designed for low-resource settings</a:t>
            </a:r>
            <a:endParaRPr lang="en-US" sz="2000" b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04458"/>
            <a:ext cx="10972526" cy="5211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3800" b="1" kern="100" spc="-57" dirty="0">
                <a:solidFill>
                  <a:srgbClr val="101A3A"/>
                </a:solidFill>
                <a:latin typeface="Parkinsans Bold" pitchFamily="34" charset="0"/>
                <a:ea typeface="Parkinsans Bold" pitchFamily="34" charset="0"/>
                <a:cs typeface="Parkinsans Bold" pitchFamily="34" charset="0"/>
              </a:rPr>
              <a:t>Datasets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09585" y="953016"/>
            <a:ext cx="4267093" cy="4114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45" dirty="0">
                <a:solidFill>
                  <a:srgbClr val="101A3A"/>
                </a:solidFill>
                <a:latin typeface="Parkinsans Bold" pitchFamily="34" charset="0"/>
                <a:ea typeface="Parkinsans Bold" pitchFamily="34" charset="0"/>
                <a:cs typeface="Parkinsans Bold" pitchFamily="34" charset="0"/>
              </a:rPr>
              <a:t>Malaria: NIH Malaria </a:t>
            </a:r>
          </a:p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45" dirty="0">
                <a:solidFill>
                  <a:srgbClr val="101A3A"/>
                </a:solidFill>
                <a:latin typeface="Parkinsans Bold" pitchFamily="34" charset="0"/>
                <a:ea typeface="Parkinsans Bold" pitchFamily="34" charset="0"/>
                <a:cs typeface="Parkinsans Bold" pitchFamily="34" charset="0"/>
              </a:rPr>
              <a:t>Cell Images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90348" y="1848834"/>
            <a:ext cx="4505566" cy="28752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20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01A3A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27,558 segmented thin-smear cell images</a:t>
            </a:r>
          </a:p>
          <a:p>
            <a:pPr marL="342900" indent="-342900" algn="l">
              <a:lnSpc>
                <a:spcPct val="200000"/>
              </a:lnSpc>
              <a:buFont typeface="Arial" pitchFamily="34" charset="0"/>
              <a:buChar char="•"/>
            </a:pPr>
            <a:r>
              <a:rPr lang="en-US" sz="1800" dirty="0">
                <a:latin typeface="Reddit Sans" pitchFamily="34" charset="0"/>
                <a:ea typeface="Reddit Sans" pitchFamily="34" charset="0"/>
                <a:cs typeface="Reddit Sans" pitchFamily="34" charset="0"/>
              </a:rPr>
              <a:t>13,779 parasitized + 13,779 uninfected </a:t>
            </a:r>
          </a:p>
          <a:p>
            <a:pPr marL="342900" indent="-342900" algn="l">
              <a:lnSpc>
                <a:spcPct val="200000"/>
              </a:lnSpc>
              <a:buFont typeface="Arial" pitchFamily="34" charset="0"/>
              <a:buChar char="•"/>
            </a:pPr>
            <a:r>
              <a:rPr lang="en-US" sz="1800" dirty="0">
                <a:latin typeface="Reddit Sans" pitchFamily="34" charset="0"/>
                <a:ea typeface="Reddit Sans" pitchFamily="34" charset="0"/>
                <a:cs typeface="Reddit Sans" pitchFamily="34" charset="0"/>
              </a:rPr>
              <a:t>From 150 infected and 50 healthy patients</a:t>
            </a:r>
          </a:p>
          <a:p>
            <a:pPr marL="342900" indent="-342900" algn="l">
              <a:lnSpc>
                <a:spcPct val="200000"/>
              </a:lnSpc>
              <a:buFont typeface="Arial" pitchFamily="34" charset="0"/>
              <a:buChar char="•"/>
            </a:pPr>
            <a:r>
              <a:rPr lang="en-US" sz="1800" b="1" dirty="0">
                <a:latin typeface="Reddit Sans" pitchFamily="34" charset="0"/>
                <a:ea typeface="Reddit Sans" pitchFamily="34" charset="0"/>
                <a:cs typeface="Reddit Sans" pitchFamily="34" charset="0"/>
              </a:rPr>
              <a:t>Preprocessing:</a:t>
            </a:r>
            <a:r>
              <a:rPr lang="en-US" sz="1800" dirty="0">
                <a:latin typeface="Reddit Sans" pitchFamily="34" charset="0"/>
                <a:ea typeface="Reddit Sans" pitchFamily="34" charset="0"/>
                <a:cs typeface="Reddit Sans" pitchFamily="34" charset="0"/>
              </a:rPr>
              <a:t> resize to 224×224, normalize</a:t>
            </a:r>
          </a:p>
          <a:p>
            <a:pPr marL="342900" indent="-342900" algn="l">
              <a:lnSpc>
                <a:spcPct val="200000"/>
              </a:lnSpc>
              <a:buFont typeface="Arial" pitchFamily="34" charset="0"/>
              <a:buChar char="•"/>
            </a:pPr>
            <a:r>
              <a:rPr lang="en-US" sz="1800" dirty="0">
                <a:latin typeface="Reddit Sans" pitchFamily="34" charset="0"/>
                <a:ea typeface="Reddit Sans" pitchFamily="34" charset="0"/>
                <a:cs typeface="Reddit Sans" pitchFamily="34" charset="0"/>
              </a:rPr>
              <a:t>Split: 70/15/15</a:t>
            </a:r>
          </a:p>
        </p:txBody>
      </p:sp>
      <p:sp>
        <p:nvSpPr>
          <p:cNvPr id="16" name="Text 14"/>
          <p:cNvSpPr/>
          <p:nvPr/>
        </p:nvSpPr>
        <p:spPr>
          <a:xfrm>
            <a:off x="5874760" y="953016"/>
            <a:ext cx="6400739" cy="4114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45" dirty="0">
                <a:solidFill>
                  <a:srgbClr val="101A3A"/>
                </a:solidFill>
                <a:latin typeface="Parkinsans Bold" pitchFamily="34" charset="0"/>
                <a:ea typeface="Parkinsans Bold" pitchFamily="34" charset="0"/>
                <a:cs typeface="Parkinsans Bold" pitchFamily="34" charset="0"/>
              </a:rPr>
              <a:t>Dengue: Clinical CBC and </a:t>
            </a:r>
          </a:p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45" dirty="0">
                <a:solidFill>
                  <a:srgbClr val="101A3A"/>
                </a:solidFill>
                <a:latin typeface="Parkinsans Bold" pitchFamily="34" charset="0"/>
                <a:ea typeface="Parkinsans Bold" pitchFamily="34" charset="0"/>
                <a:cs typeface="Parkinsans Bold" pitchFamily="34" charset="0"/>
              </a:rPr>
              <a:t>Symptom Data</a:t>
            </a:r>
            <a:endParaRPr lang="en-US" sz="3000" dirty="0"/>
          </a:p>
        </p:txBody>
      </p:sp>
      <p:sp>
        <p:nvSpPr>
          <p:cNvPr id="24" name="Text 3"/>
          <p:cNvSpPr/>
          <p:nvPr/>
        </p:nvSpPr>
        <p:spPr>
          <a:xfrm>
            <a:off x="5874760" y="1848834"/>
            <a:ext cx="5803734" cy="4034724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20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01A3A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Dataset: Dengue Fever Hematological Dataset</a:t>
            </a:r>
          </a:p>
          <a:p>
            <a:pPr marL="342900" indent="-342900" algn="l">
              <a:lnSpc>
                <a:spcPct val="200000"/>
              </a:lnSpc>
              <a:buFont typeface="Arial" pitchFamily="34" charset="0"/>
              <a:buChar char="•"/>
            </a:pPr>
            <a:r>
              <a:rPr lang="en-US" sz="1800" dirty="0">
                <a:latin typeface="Reddit Sans" pitchFamily="34" charset="0"/>
                <a:ea typeface="Reddit Sans" pitchFamily="34" charset="0"/>
                <a:cs typeface="Reddit Sans" pitchFamily="34" charset="0"/>
              </a:rPr>
              <a:t>Size: 1,523 patients, 13 features</a:t>
            </a:r>
          </a:p>
          <a:p>
            <a:pPr marL="342900" indent="-342900" algn="l">
              <a:lnSpc>
                <a:spcPct val="200000"/>
              </a:lnSpc>
              <a:buFont typeface="Arial" pitchFamily="34" charset="0"/>
              <a:buChar char="•"/>
            </a:pPr>
            <a:r>
              <a:rPr lang="en-US" sz="1800" dirty="0">
                <a:latin typeface="Reddit Sans" pitchFamily="34" charset="0"/>
                <a:ea typeface="Reddit Sans" pitchFamily="34" charset="0"/>
                <a:cs typeface="Reddit Sans" pitchFamily="34" charset="0"/>
              </a:rPr>
              <a:t>Classes: 1,040 dengue-positive and 481 dengue-negative</a:t>
            </a:r>
          </a:p>
          <a:p>
            <a:pPr marL="342900" indent="-342900" algn="l">
              <a:lnSpc>
                <a:spcPct val="200000"/>
              </a:lnSpc>
              <a:buFont typeface="Arial" pitchFamily="34" charset="0"/>
              <a:buChar char="•"/>
            </a:pPr>
            <a:r>
              <a:rPr lang="en-US" sz="1800" dirty="0">
                <a:latin typeface="Reddit Sans" pitchFamily="34" charset="0"/>
                <a:ea typeface="Reddit Sans" pitchFamily="34" charset="0"/>
                <a:cs typeface="Reddit Sans" pitchFamily="34" charset="0"/>
              </a:rPr>
              <a:t>Features: platelet count, WBC, haematocrit, neutrophils, </a:t>
            </a:r>
          </a:p>
          <a:p>
            <a:pPr marL="0" indent="0" algn="l">
              <a:lnSpc>
                <a:spcPct val="200000"/>
              </a:lnSpc>
              <a:buFont typeface="Arial" pitchFamily="34" charset="0"/>
              <a:buNone/>
            </a:pPr>
            <a:r>
              <a:rPr lang="en-US" sz="1800" dirty="0">
                <a:latin typeface="Reddit Sans" pitchFamily="34" charset="0"/>
                <a:ea typeface="Reddit Sans" pitchFamily="34" charset="0"/>
                <a:cs typeface="Reddit Sans" pitchFamily="34" charset="0"/>
              </a:rPr>
              <a:t>       lymphocytes, symptoms</a:t>
            </a:r>
          </a:p>
          <a:p>
            <a:pPr marL="342900" indent="-342900" algn="l">
              <a:lnSpc>
                <a:spcPct val="200000"/>
              </a:lnSpc>
              <a:buFont typeface="Arial" pitchFamily="34" charset="0"/>
              <a:buChar char="•"/>
            </a:pPr>
            <a:r>
              <a:rPr lang="en-US" sz="1800" dirty="0">
                <a:latin typeface="Reddit Sans" pitchFamily="34" charset="0"/>
                <a:ea typeface="Reddit Sans" pitchFamily="34" charset="0"/>
                <a:cs typeface="Reddit Sans" pitchFamily="34" charset="0"/>
              </a:rPr>
              <a:t>Preprocessing: duplicate removal, imputation, scaling,</a:t>
            </a:r>
          </a:p>
          <a:p>
            <a:pPr marL="0" indent="0" algn="l">
              <a:lnSpc>
                <a:spcPct val="200000"/>
              </a:lnSpc>
              <a:buFont typeface="Arial" pitchFamily="34" charset="0"/>
              <a:buNone/>
            </a:pPr>
            <a:r>
              <a:rPr lang="en-US" sz="1800" dirty="0">
                <a:latin typeface="Reddit Sans" pitchFamily="34" charset="0"/>
                <a:ea typeface="Reddit Sans" pitchFamily="34" charset="0"/>
                <a:cs typeface="Reddit Sans" pitchFamily="34" charset="0"/>
              </a:rPr>
              <a:t>      SMOTE within training folds only</a:t>
            </a:r>
          </a:p>
          <a:p>
            <a:pPr marL="342900" indent="-342900" algn="l">
              <a:lnSpc>
                <a:spcPct val="200000"/>
              </a:lnSpc>
              <a:buFont typeface="Arial" pitchFamily="34" charset="0"/>
              <a:buChar char="•"/>
            </a:pPr>
            <a:r>
              <a:rPr lang="en-US" sz="1800" dirty="0">
                <a:latin typeface="Reddit Sans" pitchFamily="34" charset="0"/>
                <a:ea typeface="Reddit Sans" pitchFamily="34" charset="0"/>
                <a:cs typeface="Reddit Sans" pitchFamily="34" charset="0"/>
              </a:rPr>
              <a:t>Validation: repeated stratified 5-fold cross-validation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83111" y="5135934"/>
            <a:ext cx="1352550" cy="140970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816369" y="5178797"/>
            <a:ext cx="1181100" cy="1323975"/>
          </a:xfrm>
          <a:prstGeom prst="rect">
            <a:avLst/>
          </a:prstGeom>
        </p:spPr>
      </p:pic>
      <p:sp>
        <p:nvSpPr>
          <p:cNvPr id="27" name="Text 3"/>
          <p:cNvSpPr/>
          <p:nvPr/>
        </p:nvSpPr>
        <p:spPr>
          <a:xfrm>
            <a:off x="609585" y="4724112"/>
            <a:ext cx="3981053" cy="2844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101A3A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      Infected                     Not Infected</a:t>
            </a:r>
            <a:endParaRPr lang="en-US" sz="16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8497" y="218116"/>
            <a:ext cx="10972526" cy="5211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3800" b="1" kern="100" spc="-57" dirty="0">
                <a:solidFill>
                  <a:srgbClr val="101A3A"/>
                </a:solidFill>
                <a:latin typeface="Parkinsans Bold" pitchFamily="34" charset="0"/>
                <a:ea typeface="Parkinsans Bold" pitchFamily="34" charset="0"/>
                <a:cs typeface="Parkinsans Bold" pitchFamily="34" charset="0"/>
              </a:rPr>
              <a:t>Candidate Models: 6 Models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90348" y="1364476"/>
            <a:ext cx="4267093" cy="6581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3000" b="1" kern="100" spc="-45" dirty="0">
                <a:solidFill>
                  <a:srgbClr val="101A3A"/>
                </a:solidFill>
                <a:latin typeface="Parkinsans Bold" pitchFamily="34" charset="0"/>
                <a:ea typeface="Parkinsans Bold" pitchFamily="34" charset="0"/>
                <a:cs typeface="Parkinsans Bold" pitchFamily="34" charset="0"/>
              </a:rPr>
              <a:t>Malaria: Cell Images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208695" y="1364476"/>
            <a:ext cx="6869451" cy="8453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3000" b="1" kern="100" spc="-45" dirty="0">
                <a:solidFill>
                  <a:srgbClr val="101A3A"/>
                </a:solidFill>
                <a:latin typeface="Parkinsans Bold" pitchFamily="34" charset="0"/>
                <a:ea typeface="Parkinsans Bold" pitchFamily="34" charset="0"/>
                <a:cs typeface="Parkinsans Bold" pitchFamily="34" charset="0"/>
              </a:rPr>
              <a:t>Dengue: (blood values)</a:t>
            </a:r>
            <a:endParaRPr lang="en-US" sz="3000" dirty="0"/>
          </a:p>
        </p:txBody>
      </p:sp>
      <p:sp>
        <p:nvSpPr>
          <p:cNvPr id="29" name="Text 3"/>
          <p:cNvSpPr/>
          <p:nvPr/>
        </p:nvSpPr>
        <p:spPr>
          <a:xfrm>
            <a:off x="776388" y="2274434"/>
            <a:ext cx="3981053" cy="32940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285750" indent="-285750" algn="l">
              <a:lnSpc>
                <a:spcPct val="117000"/>
              </a:lnSpc>
              <a:buFont typeface="Arial" pitchFamily="34" charset="0"/>
              <a:buChar char="•"/>
            </a:pPr>
            <a:r>
              <a:rPr lang="en-US" sz="2000" b="1" dirty="0">
                <a:solidFill>
                  <a:srgbClr val="101A3A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Custom CNN: built by us </a:t>
            </a:r>
          </a:p>
          <a:p>
            <a:pPr marL="0" indent="0" algn="l">
              <a:lnSpc>
                <a:spcPct val="117000"/>
              </a:lnSpc>
              <a:buFont typeface="Arial" pitchFamily="34" charset="0"/>
              <a:buNone/>
            </a:pPr>
            <a:r>
              <a:rPr lang="en-US" sz="2000" dirty="0">
                <a:solidFill>
                  <a:srgbClr val="101A3A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    (3–4 convolutional layers)</a:t>
            </a:r>
          </a:p>
          <a:p>
            <a:pPr marL="0" indent="0" algn="l">
              <a:lnSpc>
                <a:spcPct val="117000"/>
              </a:lnSpc>
              <a:buFont typeface="Arial" pitchFamily="34" charset="0"/>
              <a:buNone/>
            </a:pPr>
            <a:endParaRPr lang="en-US" sz="2000" dirty="0">
              <a:solidFill>
                <a:srgbClr val="101A3A"/>
              </a:solidFill>
              <a:latin typeface="Reddit Sans" pitchFamily="34" charset="0"/>
              <a:ea typeface="Reddit Sans" pitchFamily="34" charset="0"/>
              <a:cs typeface="Reddit Sans" pitchFamily="34" charset="0"/>
            </a:endParaRPr>
          </a:p>
          <a:p>
            <a:pPr marL="285750" indent="-285750" algn="l">
              <a:lnSpc>
                <a:spcPct val="117000"/>
              </a:lnSpc>
              <a:buFont typeface="Arial" pitchFamily="34" charset="0"/>
              <a:buChar char="•"/>
            </a:pPr>
            <a:r>
              <a:rPr lang="en-US" sz="2000" b="1" dirty="0">
                <a:solidFill>
                  <a:srgbClr val="101A3A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MobileNetV3: </a:t>
            </a:r>
          </a:p>
          <a:p>
            <a:pPr marL="0" indent="0" algn="l">
              <a:lnSpc>
                <a:spcPct val="117000"/>
              </a:lnSpc>
              <a:buFont typeface="Arial" pitchFamily="34" charset="0"/>
              <a:buNone/>
            </a:pPr>
            <a:r>
              <a:rPr lang="en-US" sz="2000" dirty="0">
                <a:solidFill>
                  <a:srgbClr val="101A3A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    established, designed for mobile</a:t>
            </a:r>
          </a:p>
          <a:p>
            <a:pPr marL="0" indent="0" algn="l">
              <a:lnSpc>
                <a:spcPct val="117000"/>
              </a:lnSpc>
              <a:buFont typeface="Arial" pitchFamily="34" charset="0"/>
              <a:buNone/>
            </a:pPr>
            <a:endParaRPr lang="en-US" sz="2000" dirty="0">
              <a:solidFill>
                <a:srgbClr val="101A3A"/>
              </a:solidFill>
              <a:latin typeface="Reddit Sans" pitchFamily="34" charset="0"/>
              <a:ea typeface="Reddit Sans" pitchFamily="34" charset="0"/>
              <a:cs typeface="Reddit Sans" pitchFamily="34" charset="0"/>
            </a:endParaRPr>
          </a:p>
          <a:p>
            <a:pPr marL="285750" indent="-285750" algn="l">
              <a:lnSpc>
                <a:spcPct val="117000"/>
              </a:lnSpc>
              <a:buFont typeface="Arial" pitchFamily="34" charset="0"/>
              <a:buChar char="•"/>
            </a:pPr>
            <a:r>
              <a:rPr lang="en-US" sz="2000" b="1" dirty="0">
                <a:solidFill>
                  <a:srgbClr val="101A3A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EfficientNet-B0:  </a:t>
            </a:r>
          </a:p>
          <a:p>
            <a:pPr marL="0" indent="0" algn="l">
              <a:lnSpc>
                <a:spcPct val="117000"/>
              </a:lnSpc>
              <a:buFont typeface="Arial" pitchFamily="34" charset="0"/>
              <a:buNone/>
            </a:pPr>
            <a:r>
              <a:rPr lang="en-US" sz="2000" dirty="0">
                <a:solidFill>
                  <a:srgbClr val="101A3A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    established, accuracy/efficiency </a:t>
            </a:r>
          </a:p>
          <a:p>
            <a:pPr marL="0" indent="0" algn="l">
              <a:lnSpc>
                <a:spcPct val="117000"/>
              </a:lnSpc>
              <a:buFont typeface="Arial" pitchFamily="34" charset="0"/>
              <a:buNone/>
            </a:pPr>
            <a:r>
              <a:rPr lang="en-US" sz="2000" dirty="0">
                <a:solidFill>
                  <a:srgbClr val="101A3A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    balance</a:t>
            </a:r>
          </a:p>
        </p:txBody>
      </p:sp>
      <p:sp>
        <p:nvSpPr>
          <p:cNvPr id="30" name="Text 3"/>
          <p:cNvSpPr/>
          <p:nvPr/>
        </p:nvSpPr>
        <p:spPr>
          <a:xfrm>
            <a:off x="6652893" y="2274434"/>
            <a:ext cx="3981053" cy="34174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285750" indent="-285750" algn="l">
              <a:lnSpc>
                <a:spcPct val="117000"/>
              </a:lnSpc>
              <a:buFont typeface="Arial" pitchFamily="34" charset="0"/>
              <a:buChar char="•"/>
            </a:pPr>
            <a:r>
              <a:rPr lang="en-US" sz="2000" b="1" dirty="0">
                <a:solidFill>
                  <a:srgbClr val="101A3A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Custom MLP (Multi-Layer Perceptron)</a:t>
            </a:r>
          </a:p>
          <a:p>
            <a:pPr marL="0" indent="0" algn="l">
              <a:lnSpc>
                <a:spcPct val="117000"/>
              </a:lnSpc>
              <a:buFont typeface="Arial" pitchFamily="34" charset="0"/>
              <a:buNone/>
            </a:pPr>
            <a:r>
              <a:rPr lang="en-US" sz="2000" dirty="0">
                <a:solidFill>
                  <a:srgbClr val="101A3A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    built by us</a:t>
            </a:r>
          </a:p>
          <a:p>
            <a:pPr marL="0" indent="0" algn="l">
              <a:lnSpc>
                <a:spcPct val="117000"/>
              </a:lnSpc>
              <a:buFont typeface="Arial" pitchFamily="34" charset="0"/>
              <a:buNone/>
            </a:pPr>
            <a:endParaRPr lang="en-US" sz="2000" dirty="0">
              <a:solidFill>
                <a:srgbClr val="101A3A"/>
              </a:solidFill>
              <a:latin typeface="Reddit Sans" pitchFamily="34" charset="0"/>
              <a:ea typeface="Reddit Sans" pitchFamily="34" charset="0"/>
              <a:cs typeface="Reddit Sans" pitchFamily="34" charset="0"/>
            </a:endParaRPr>
          </a:p>
          <a:p>
            <a:pPr marL="285750" indent="-285750" algn="l">
              <a:lnSpc>
                <a:spcPct val="117000"/>
              </a:lnSpc>
              <a:buFont typeface="Arial" pitchFamily="34" charset="0"/>
              <a:buChar char="•"/>
            </a:pPr>
            <a:r>
              <a:rPr lang="en-US" sz="2000" b="1" dirty="0">
                <a:solidFill>
                  <a:srgbClr val="101A3A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Random Forest: </a:t>
            </a:r>
          </a:p>
          <a:p>
            <a:pPr marL="0" indent="0" algn="l">
              <a:lnSpc>
                <a:spcPct val="117000"/>
              </a:lnSpc>
              <a:buFont typeface="Arial" pitchFamily="34" charset="0"/>
              <a:buNone/>
            </a:pPr>
            <a:r>
              <a:rPr lang="en-US" sz="2000" dirty="0">
                <a:solidFill>
                  <a:srgbClr val="101A3A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    established, strong tabular baseline</a:t>
            </a:r>
          </a:p>
          <a:p>
            <a:pPr marL="0" indent="0" algn="l">
              <a:lnSpc>
                <a:spcPct val="117000"/>
              </a:lnSpc>
              <a:buFont typeface="Arial" pitchFamily="34" charset="0"/>
              <a:buNone/>
            </a:pPr>
            <a:endParaRPr lang="en-US" sz="2000" dirty="0">
              <a:solidFill>
                <a:srgbClr val="101A3A"/>
              </a:solidFill>
              <a:latin typeface="Reddit Sans" pitchFamily="34" charset="0"/>
              <a:ea typeface="Reddit Sans" pitchFamily="34" charset="0"/>
              <a:cs typeface="Reddit Sans" pitchFamily="34" charset="0"/>
            </a:endParaRPr>
          </a:p>
          <a:p>
            <a:pPr marL="285750" indent="-285750" algn="l">
              <a:lnSpc>
                <a:spcPct val="117000"/>
              </a:lnSpc>
              <a:buFont typeface="Arial" pitchFamily="34" charset="0"/>
              <a:buChar char="•"/>
            </a:pPr>
            <a:r>
              <a:rPr lang="en-US" sz="2000" b="1" dirty="0">
                <a:solidFill>
                  <a:srgbClr val="101A3A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XGBoost:  </a:t>
            </a:r>
          </a:p>
          <a:p>
            <a:pPr marL="0" indent="0" algn="l">
              <a:lnSpc>
                <a:spcPct val="117000"/>
              </a:lnSpc>
              <a:buFont typeface="Arial" pitchFamily="34" charset="0"/>
              <a:buNone/>
            </a:pPr>
            <a:r>
              <a:rPr lang="en-US" sz="2000" dirty="0">
                <a:solidFill>
                  <a:srgbClr val="101A3A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    established, gradient-boosted trees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6388" y="5820327"/>
            <a:ext cx="10584635" cy="697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Reddit Sans" pitchFamily="34" charset="0"/>
                <a:ea typeface="Reddit Sans" pitchFamily="34" charset="0"/>
                <a:cs typeface="Reddit Sans" pitchFamily="34" charset="0"/>
              </a:rPr>
              <a:t>Why these models?</a:t>
            </a:r>
            <a:r>
              <a:rPr lang="en-US" sz="2000">
                <a:latin typeface="Reddit Sans" pitchFamily="34" charset="0"/>
                <a:ea typeface="Reddit Sans" pitchFamily="34" charset="0"/>
                <a:cs typeface="Reddit Sans" pitchFamily="34" charset="0"/>
              </a:rPr>
              <a:t> </a:t>
            </a:r>
          </a:p>
          <a:p>
            <a:r>
              <a:rPr lang="en-US" sz="2000">
                <a:latin typeface="Reddit Sans" pitchFamily="34" charset="0"/>
                <a:ea typeface="Reddit Sans" pitchFamily="34" charset="0"/>
                <a:cs typeface="Reddit Sans" pitchFamily="34" charset="0"/>
              </a:rPr>
              <a:t>Small clinics need fast, small models that run offline on a phone or low-end computer.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1548" y="368459"/>
            <a:ext cx="10972526" cy="5211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800" b="1" kern="100" spc="-57" dirty="0">
                <a:solidFill>
                  <a:srgbClr val="101A3A"/>
                </a:solidFill>
                <a:latin typeface="Parkinsans Bold" pitchFamily="34" charset="0"/>
                <a:ea typeface="Parkinsans Bold" pitchFamily="34" charset="0"/>
                <a:cs typeface="Parkinsans Bold" pitchFamily="34" charset="0"/>
              </a:rPr>
              <a:t>Project Objectives and Methodology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00224" y="1097753"/>
            <a:ext cx="4267093" cy="4114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45" dirty="0">
                <a:solidFill>
                  <a:srgbClr val="101A3A"/>
                </a:solidFill>
                <a:latin typeface="Parkinsans Bold" pitchFamily="34" charset="0"/>
                <a:ea typeface="Parkinsans Bold" pitchFamily="34" charset="0"/>
                <a:cs typeface="Parkinsans Bold" pitchFamily="34" charset="0"/>
              </a:rPr>
              <a:t>Objectives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503215" y="1097753"/>
            <a:ext cx="6400739" cy="4114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45" dirty="0">
                <a:solidFill>
                  <a:srgbClr val="101A3A"/>
                </a:solidFill>
                <a:latin typeface="Parkinsans Bold" pitchFamily="34" charset="0"/>
                <a:ea typeface="Parkinsans Bold" pitchFamily="34" charset="0"/>
                <a:cs typeface="Parkinsans Bold" pitchFamily="34" charset="0"/>
              </a:rPr>
              <a:t>Methodology Pipeline</a:t>
            </a:r>
            <a:endParaRPr lang="en-US" sz="3000" dirty="0"/>
          </a:p>
        </p:txBody>
      </p:sp>
      <p:sp>
        <p:nvSpPr>
          <p:cNvPr id="24" name="TextBox 23"/>
          <p:cNvSpPr txBox="1"/>
          <p:nvPr/>
        </p:nvSpPr>
        <p:spPr>
          <a:xfrm>
            <a:off x="301548" y="1735811"/>
            <a:ext cx="6201667" cy="4476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>
                <a:latin typeface="Reddit Sans" pitchFamily="34" charset="0"/>
                <a:ea typeface="Reddit Sans" pitchFamily="34" charset="0"/>
                <a:cs typeface="Reddit Sans" pitchFamily="34" charset="0"/>
              </a:rPr>
              <a:t>1. Prepare malaria and dengue datasets under a documented protocol</a:t>
            </a:r>
          </a:p>
          <a:p>
            <a:endParaRPr lang="en-US" sz="1800">
              <a:latin typeface="Reddit Sans" pitchFamily="34" charset="0"/>
              <a:ea typeface="Reddit Sans" pitchFamily="34" charset="0"/>
              <a:cs typeface="Reddit Sans" pitchFamily="34" charset="0"/>
            </a:endParaRPr>
          </a:p>
          <a:p>
            <a:r>
              <a:rPr lang="en-US" sz="1800">
                <a:latin typeface="Reddit Sans" pitchFamily="34" charset="0"/>
                <a:ea typeface="Reddit Sans" pitchFamily="34" charset="0"/>
                <a:cs typeface="Reddit Sans" pitchFamily="34" charset="0"/>
              </a:rPr>
              <a:t>2. Build one custom model per disease and train 2 established models for comparison</a:t>
            </a:r>
          </a:p>
          <a:p>
            <a:endParaRPr lang="en-US" sz="1800">
              <a:latin typeface="Reddit Sans" pitchFamily="34" charset="0"/>
              <a:ea typeface="Reddit Sans" pitchFamily="34" charset="0"/>
              <a:cs typeface="Reddit Sans" pitchFamily="34" charset="0"/>
            </a:endParaRPr>
          </a:p>
          <a:p>
            <a:r>
              <a:rPr lang="en-US" sz="1800">
                <a:latin typeface="Reddit Sans" pitchFamily="34" charset="0"/>
                <a:ea typeface="Reddit Sans" pitchFamily="34" charset="0"/>
                <a:cs typeface="Reddit Sans" pitchFamily="34" charset="0"/>
              </a:rPr>
              <a:t>3. Measure diagnostic and deployment metrics for all 6 models</a:t>
            </a:r>
          </a:p>
          <a:p>
            <a:endParaRPr lang="en-US" sz="1800">
              <a:latin typeface="Reddit Sans" pitchFamily="34" charset="0"/>
              <a:ea typeface="Reddit Sans" pitchFamily="34" charset="0"/>
              <a:cs typeface="Reddit Sans" pitchFamily="34" charset="0"/>
            </a:endParaRPr>
          </a:p>
          <a:p>
            <a:r>
              <a:rPr lang="en-US" sz="1800">
                <a:latin typeface="Reddit Sans" pitchFamily="34" charset="0"/>
                <a:ea typeface="Reddit Sans" pitchFamily="34" charset="0"/>
                <a:cs typeface="Reddit Sans" pitchFamily="34" charset="0"/>
              </a:rPr>
              <a:t>4. Rank with TOPSIS and a sensitivity gate, and test ranking stability</a:t>
            </a:r>
          </a:p>
          <a:p>
            <a:endParaRPr lang="en-US" sz="1800">
              <a:latin typeface="Reddit Sans" pitchFamily="34" charset="0"/>
              <a:ea typeface="Reddit Sans" pitchFamily="34" charset="0"/>
              <a:cs typeface="Reddit Sans" pitchFamily="34" charset="0"/>
            </a:endParaRPr>
          </a:p>
          <a:p>
            <a:r>
              <a:rPr lang="en-US" sz="1800">
                <a:latin typeface="Reddit Sans" pitchFamily="34" charset="0"/>
                <a:ea typeface="Reddit Sans" pitchFamily="34" charset="0"/>
                <a:cs typeface="Reddit Sans" pitchFamily="34" charset="0"/>
              </a:rPr>
              <a:t>5. Provide Grad-CAM and SHAP explanations with clinician ratings</a:t>
            </a:r>
          </a:p>
          <a:p>
            <a:endParaRPr lang="en-US" sz="1800">
              <a:latin typeface="Reddit Sans" pitchFamily="34" charset="0"/>
              <a:ea typeface="Reddit Sans" pitchFamily="34" charset="0"/>
              <a:cs typeface="Reddit Sans" pitchFamily="34" charset="0"/>
            </a:endParaRPr>
          </a:p>
          <a:p>
            <a:r>
              <a:rPr lang="en-US" sz="1800">
                <a:latin typeface="Reddit Sans" pitchFamily="34" charset="0"/>
                <a:ea typeface="Reddit Sans" pitchFamily="34" charset="0"/>
                <a:cs typeface="Reddit Sans" pitchFamily="34" charset="0"/>
              </a:rPr>
              <a:t>6. Deploy the selected models in a minimal prototype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3215" y="1735810"/>
            <a:ext cx="4532604" cy="3851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>
                <a:latin typeface="Reddit Sans" pitchFamily="34" charset="0"/>
                <a:ea typeface="Reddit Sans" pitchFamily="34" charset="0"/>
                <a:cs typeface="Reddit Sans" pitchFamily="34" charset="0"/>
              </a:rPr>
              <a:t>Data → Train → Compress → Score → Explain → Statistical Analysis</a:t>
            </a:r>
          </a:p>
          <a:p>
            <a:endParaRPr lang="en-US" sz="1900">
              <a:latin typeface="Reddit Sans" pitchFamily="34" charset="0"/>
              <a:ea typeface="Reddit Sans" pitchFamily="34" charset="0"/>
              <a:cs typeface="Reddit Sans" pitchFamily="34" charset="0"/>
            </a:endParaRPr>
          </a:p>
          <a:p>
            <a:r>
              <a:rPr lang="en-US" sz="1900" b="1">
                <a:latin typeface="Reddit Sans" pitchFamily="34" charset="0"/>
                <a:ea typeface="Reddit Sans" pitchFamily="34" charset="0"/>
                <a:cs typeface="Reddit Sans" pitchFamily="34" charset="0"/>
              </a:rPr>
              <a:t>Metrices:</a:t>
            </a:r>
            <a:r>
              <a:rPr lang="en-US" sz="1900">
                <a:latin typeface="Reddit Sans" pitchFamily="34" charset="0"/>
                <a:ea typeface="Reddit Sans" pitchFamily="34" charset="0"/>
                <a:cs typeface="Reddit Sans" pitchFamily="34" charset="0"/>
              </a:rPr>
              <a:t> sensitivity, specificity, precision, F1, ROC-AUC, calibration error, robustness, latency, memory, model size</a:t>
            </a:r>
          </a:p>
          <a:p>
            <a:endParaRPr lang="en-US" sz="1900">
              <a:latin typeface="Reddit Sans" pitchFamily="34" charset="0"/>
              <a:ea typeface="Reddit Sans" pitchFamily="34" charset="0"/>
              <a:cs typeface="Reddit Sans" pitchFamily="34" charset="0"/>
            </a:endParaRPr>
          </a:p>
          <a:p>
            <a:r>
              <a:rPr lang="en-US" sz="1900" b="1">
                <a:latin typeface="Reddit Sans" pitchFamily="34" charset="0"/>
                <a:ea typeface="Reddit Sans" pitchFamily="34" charset="0"/>
                <a:cs typeface="Reddit Sans" pitchFamily="34" charset="0"/>
              </a:rPr>
              <a:t>Explainability:</a:t>
            </a:r>
            <a:r>
              <a:rPr lang="en-US" sz="1900">
                <a:latin typeface="Reddit Sans" pitchFamily="34" charset="0"/>
                <a:ea typeface="Reddit Sans" pitchFamily="34" charset="0"/>
                <a:cs typeface="Reddit Sans" pitchFamily="34" charset="0"/>
              </a:rPr>
              <a:t> Grad-CAM (images) and SHAP (blood values)</a:t>
            </a:r>
          </a:p>
          <a:p>
            <a:endParaRPr lang="en-US" sz="1900">
              <a:latin typeface="Reddit Sans" pitchFamily="34" charset="0"/>
              <a:ea typeface="Reddit Sans" pitchFamily="34" charset="0"/>
              <a:cs typeface="Reddit Sans" pitchFamily="34" charset="0"/>
            </a:endParaRPr>
          </a:p>
          <a:p>
            <a:r>
              <a:rPr lang="en-US" sz="1900" b="1">
                <a:latin typeface="Reddit Sans" pitchFamily="34" charset="0"/>
                <a:ea typeface="Reddit Sans" pitchFamily="34" charset="0"/>
                <a:cs typeface="Reddit Sans" pitchFamily="34" charset="0"/>
              </a:rPr>
              <a:t>Tracking:</a:t>
            </a:r>
            <a:r>
              <a:rPr lang="en-US" sz="1900">
                <a:latin typeface="Reddit Sans" pitchFamily="34" charset="0"/>
                <a:ea typeface="Reddit Sans" pitchFamily="34" charset="0"/>
                <a:cs typeface="Reddit Sans" pitchFamily="34" charset="0"/>
              </a:rPr>
              <a:t> all experiments logged in MLflow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5986"/>
            <a:ext cx="5257668" cy="10423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800" b="1" kern="100" spc="-57" dirty="0">
                <a:solidFill>
                  <a:srgbClr val="101A3A"/>
                </a:solidFill>
                <a:latin typeface="Parkinsans Bold" pitchFamily="34" charset="0"/>
                <a:ea typeface="Parkinsans Bold" pitchFamily="34" charset="0"/>
                <a:cs typeface="Parkinsans Bold" pitchFamily="34" charset="0"/>
              </a:rPr>
              <a:t>Requirements and System Architecture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09585" y="1803122"/>
            <a:ext cx="5257668" cy="4114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45" dirty="0">
                <a:solidFill>
                  <a:srgbClr val="101A3A"/>
                </a:solidFill>
                <a:latin typeface="Parkinsans Bold" pitchFamily="34" charset="0"/>
                <a:ea typeface="Parkinsans Bold" pitchFamily="34" charset="0"/>
                <a:cs typeface="Parkinsans Bold" pitchFamily="34" charset="0"/>
              </a:rPr>
              <a:t>Functional Requirements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2387302"/>
            <a:ext cx="5257668" cy="152390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Enter lab values and symptoms, or upload a smear image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Receive a prediction, confidence level, risk flag, and explanation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Store all predictions for later review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585" y="4125833"/>
            <a:ext cx="5257668" cy="82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45" dirty="0">
                <a:solidFill>
                  <a:srgbClr val="101A3A"/>
                </a:solidFill>
                <a:latin typeface="Parkinsans Bold" pitchFamily="34" charset="0"/>
                <a:ea typeface="Parkinsans Bold" pitchFamily="34" charset="0"/>
                <a:cs typeface="Parkinsans Bold" pitchFamily="34" charset="0"/>
              </a:rPr>
              <a:t>Non-Functional Requirements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09585" y="5121473"/>
            <a:ext cx="5257668" cy="9549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Offline capability on Android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Low latency and small model size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Decision support only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24442" y="640080"/>
            <a:ext cx="5257668" cy="82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45" dirty="0">
                <a:solidFill>
                  <a:srgbClr val="101A3A"/>
                </a:solidFill>
                <a:latin typeface="Parkinsans Bold" pitchFamily="34" charset="0"/>
                <a:ea typeface="Parkinsans Bold" pitchFamily="34" charset="0"/>
                <a:cs typeface="Parkinsans Bold" pitchFamily="34" charset="0"/>
              </a:rPr>
              <a:t>MalDen-Deploy: Four-Layer Architecture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324442" y="1635720"/>
            <a:ext cx="5257668" cy="881261"/>
          </a:xfrm>
          <a:prstGeom prst="rect">
            <a:avLst/>
          </a:prstGeom>
          <a:solidFill>
            <a:srgbClr val="EAF0FF"/>
          </a:solidFill>
        </p:spPr>
        <p:txBody>
          <a:bodyPr/>
          <a:lstStyle/>
          <a:p/>
        </p:txBody>
      </p:sp>
      <p:sp>
        <p:nvSpPr>
          <p:cNvPr id="9" name="Text 7"/>
          <p:cNvSpPr/>
          <p:nvPr/>
        </p:nvSpPr>
        <p:spPr>
          <a:xfrm>
            <a:off x="6553036" y="1791395"/>
            <a:ext cx="692430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eddit Sans SemiBold" pitchFamily="34" charset="0"/>
                <a:ea typeface="Reddit Sans SemiBold" pitchFamily="34" charset="0"/>
                <a:cs typeface="Reddit Sans SemiBold" pitchFamily="34" charset="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39077" y="1774785"/>
            <a:ext cx="4514439" cy="62726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Reddit Sans Medium" pitchFamily="34" charset="0"/>
                <a:ea typeface="Reddit Sans Medium" pitchFamily="34" charset="0"/>
                <a:cs typeface="Reddit Sans Medium" pitchFamily="34" charset="0"/>
              </a:rPr>
              <a:t>Presentation: web dashboard and Android app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324442" y="2669381"/>
            <a:ext cx="5257668" cy="881261"/>
          </a:xfrm>
          <a:prstGeom prst="rect">
            <a:avLst/>
          </a:prstGeom>
          <a:solidFill>
            <a:srgbClr val="FFF1E5"/>
          </a:solidFill>
        </p:spPr>
        <p:txBody>
          <a:bodyPr/>
          <a:lstStyle/>
          <a:p/>
        </p:txBody>
      </p:sp>
      <p:sp>
        <p:nvSpPr>
          <p:cNvPr id="12" name="Text 10"/>
          <p:cNvSpPr/>
          <p:nvPr/>
        </p:nvSpPr>
        <p:spPr>
          <a:xfrm>
            <a:off x="6553036" y="2825055"/>
            <a:ext cx="726958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eddit Sans SemiBold" pitchFamily="34" charset="0"/>
                <a:ea typeface="Reddit Sans SemiBold" pitchFamily="34" charset="0"/>
                <a:cs typeface="Reddit Sans SemiBold" pitchFamily="34" charset="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73604" y="2808446"/>
            <a:ext cx="4479912" cy="62726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Reddit Sans Medium" pitchFamily="34" charset="0"/>
                <a:ea typeface="Reddit Sans Medium" pitchFamily="34" charset="0"/>
                <a:cs typeface="Reddit Sans Medium" pitchFamily="34" charset="0"/>
              </a:rPr>
              <a:t>Application: API (authentication, predictions, benchmarks, explanations)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324442" y="3703042"/>
            <a:ext cx="5257668" cy="881261"/>
          </a:xfrm>
          <a:prstGeom prst="rect">
            <a:avLst/>
          </a:prstGeom>
          <a:solidFill>
            <a:srgbClr val="FDE9F2"/>
          </a:solidFill>
        </p:spPr>
        <p:txBody>
          <a:bodyPr/>
          <a:lstStyle/>
          <a:p/>
        </p:txBody>
      </p:sp>
      <p:sp>
        <p:nvSpPr>
          <p:cNvPr id="15" name="Text 13"/>
          <p:cNvSpPr/>
          <p:nvPr/>
        </p:nvSpPr>
        <p:spPr>
          <a:xfrm>
            <a:off x="6553036" y="3858716"/>
            <a:ext cx="726362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eddit Sans SemiBold" pitchFamily="34" charset="0"/>
                <a:ea typeface="Reddit Sans SemiBold" pitchFamily="34" charset="0"/>
                <a:cs typeface="Reddit Sans SemiBold" pitchFamily="34" charset="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73009" y="3842107"/>
            <a:ext cx="4480507" cy="62726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Reddit Sans Medium" pitchFamily="34" charset="0"/>
                <a:ea typeface="Reddit Sans Medium" pitchFamily="34" charset="0"/>
                <a:cs typeface="Reddit Sans Medium" pitchFamily="34" charset="0"/>
              </a:rPr>
              <a:t>AI/ML: optimised models, compression tools, scoring engine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6324442" y="4736703"/>
            <a:ext cx="5257668" cy="881261"/>
          </a:xfrm>
          <a:prstGeom prst="rect">
            <a:avLst/>
          </a:prstGeom>
          <a:solidFill>
            <a:srgbClr val="E6F5EB"/>
          </a:solidFill>
        </p:spPr>
        <p:txBody>
          <a:bodyPr/>
          <a:lstStyle/>
          <a:p/>
        </p:txBody>
      </p:sp>
      <p:sp>
        <p:nvSpPr>
          <p:cNvPr id="18" name="Text 16"/>
          <p:cNvSpPr/>
          <p:nvPr/>
        </p:nvSpPr>
        <p:spPr>
          <a:xfrm>
            <a:off x="6553036" y="4892377"/>
            <a:ext cx="732911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eddit Sans SemiBold" pitchFamily="34" charset="0"/>
                <a:ea typeface="Reddit Sans SemiBold" pitchFamily="34" charset="0"/>
                <a:cs typeface="Reddit Sans SemiBold" pitchFamily="34" charset="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79557" y="4875768"/>
            <a:ext cx="4473959" cy="62726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Reddit Sans Medium" pitchFamily="34" charset="0"/>
                <a:ea typeface="Reddit Sans Medium" pitchFamily="34" charset="0"/>
                <a:cs typeface="Reddit Sans Medium" pitchFamily="34" charset="0"/>
              </a:rPr>
              <a:t>Data: PostgreSQL, object storage, MLflow model registry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5986"/>
            <a:ext cx="7696007" cy="5211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800" b="1" kern="100" spc="-57" dirty="0">
                <a:solidFill>
                  <a:srgbClr val="101A3A"/>
                </a:solidFill>
                <a:latin typeface="Parkinsans Bold" pitchFamily="34" charset="0"/>
                <a:ea typeface="Parkinsans Bold" pitchFamily="34" charset="0"/>
                <a:cs typeface="Parkinsans Bold" pitchFamily="34" charset="0"/>
              </a:rPr>
              <a:t>Scope and Limitations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09585" y="1593076"/>
            <a:ext cx="3695608" cy="4114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45" dirty="0">
                <a:solidFill>
                  <a:srgbClr val="101A3A"/>
                </a:solidFill>
                <a:latin typeface="Parkinsans Bold" pitchFamily="34" charset="0"/>
                <a:ea typeface="Parkinsans Bold" pitchFamily="34" charset="0"/>
                <a:cs typeface="Parkinsans Bold" pitchFamily="34" charset="0"/>
              </a:rPr>
              <a:t>In Scope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2177256"/>
            <a:ext cx="3695608" cy="157470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Benchmarking for two tasks (malaria and dengue)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Model selection and compression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Explainability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Prototype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585" y="3966587"/>
            <a:ext cx="3695608" cy="4114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45" dirty="0">
                <a:solidFill>
                  <a:srgbClr val="101A3A"/>
                </a:solidFill>
                <a:latin typeface="Parkinsans Bold" pitchFamily="34" charset="0"/>
                <a:ea typeface="Parkinsans Bold" pitchFamily="34" charset="0"/>
                <a:cs typeface="Parkinsans Bold" pitchFamily="34" charset="0"/>
              </a:rPr>
              <a:t>Out of Scope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09585" y="4550767"/>
            <a:ext cx="3695608" cy="157470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Final diagnosis or treatment advice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New laboratory hardware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101A3A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Clinical trials and regulatory approval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609985" y="1333996"/>
            <a:ext cx="3695608" cy="5397004"/>
          </a:xfrm>
          <a:prstGeom prst="rect">
            <a:avLst/>
          </a:prstGeom>
          <a:solidFill>
            <a:srgbClr val="FFF1E5"/>
          </a:solidFill>
        </p:spPr>
        <p:txBody>
          <a:bodyPr/>
          <a:lstStyle/>
          <a:p/>
        </p:txBody>
      </p:sp>
      <p:sp>
        <p:nvSpPr>
          <p:cNvPr id="8" name="Text 6"/>
          <p:cNvSpPr/>
          <p:nvPr/>
        </p:nvSpPr>
        <p:spPr>
          <a:xfrm>
            <a:off x="4838579" y="1593076"/>
            <a:ext cx="3238419" cy="82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45" dirty="0">
                <a:solidFill>
                  <a:srgbClr val="000000"/>
                </a:solidFill>
                <a:latin typeface="Parkinsans Bold" pitchFamily="34" charset="0"/>
                <a:ea typeface="Parkinsans Bold" pitchFamily="34" charset="0"/>
                <a:cs typeface="Parkinsans Bold" pitchFamily="34" charset="0"/>
              </a:rPr>
              <a:t>Risks and Mitigation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838579" y="2588716"/>
            <a:ext cx="3238419" cy="29970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Small dengue data → repeated cross-validation and external validation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Quantisation accuracy loss → full-precision fallback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Compute limits → university GPUs or Colab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Ethics → anonymised data, ethics approval, decision support only</a:t>
            </a:r>
            <a:endParaRPr lang="en-US" sz="16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829554" y="609600"/>
            <a:ext cx="1752556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5620"/>
            <a:ext cx="7386155" cy="93087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00" b="1" kern="100" spc="-51" dirty="0">
                <a:solidFill>
                  <a:srgbClr val="101A3A"/>
                </a:solidFill>
                <a:latin typeface="Parkinsans Bold" pitchFamily="34" charset="0"/>
                <a:ea typeface="Parkinsans Bold" pitchFamily="34" charset="0"/>
                <a:cs typeface="Parkinsans Bold" pitchFamily="34" charset="0"/>
              </a:rPr>
              <a:t>Expected Outcomes and Deliverables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09585" y="1702495"/>
            <a:ext cx="3616830" cy="1525885"/>
          </a:xfrm>
          <a:prstGeom prst="roundRect">
            <a:avLst>
              <a:gd name="adj" fmla="val 10704"/>
            </a:avLst>
          </a:prstGeom>
          <a:noFill/>
          <a:ln w="19050">
            <a:solidFill>
              <a:srgbClr val="B8C2DF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Shape 2"/>
          <p:cNvSpPr/>
          <p:nvPr/>
        </p:nvSpPr>
        <p:spPr>
          <a:xfrm>
            <a:off x="857229" y="1950145"/>
            <a:ext cx="453518" cy="453529"/>
          </a:xfrm>
          <a:prstGeom prst="roundRect">
            <a:avLst>
              <a:gd name="adj" fmla="val 12005"/>
            </a:avLst>
          </a:prstGeom>
          <a:solidFill>
            <a:srgbClr val="D2DCF9"/>
          </a:solidFill>
        </p:spPr>
        <p:txBody>
          <a:bodyPr/>
          <a:lstStyle/>
          <a:p/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93254" y="2086173"/>
            <a:ext cx="181467" cy="18147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7229" y="2501700"/>
            <a:ext cx="3369186" cy="2404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50" dirty="0">
                <a:solidFill>
                  <a:srgbClr val="101A3A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A repeatable benchmark of </a:t>
            </a:r>
            <a:r>
              <a:rPr lang="en-US" sz="1450" b="1" dirty="0">
                <a:solidFill>
                  <a:srgbClr val="101A3A"/>
                </a:solidFill>
                <a:latin typeface="Reddit Sans Bold" pitchFamily="34" charset="0"/>
                <a:ea typeface="Reddit Sans Bold" pitchFamily="34" charset="0"/>
                <a:cs typeface="Reddit Sans Bold" pitchFamily="34" charset="0"/>
              </a:rPr>
              <a:t>6 models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4378811" y="1702495"/>
            <a:ext cx="3616929" cy="1525885"/>
          </a:xfrm>
          <a:prstGeom prst="roundRect">
            <a:avLst>
              <a:gd name="adj" fmla="val 10704"/>
            </a:avLst>
          </a:prstGeom>
          <a:noFill/>
          <a:ln w="19050">
            <a:solidFill>
              <a:srgbClr val="B8C2DF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Shape 5"/>
          <p:cNvSpPr/>
          <p:nvPr/>
        </p:nvSpPr>
        <p:spPr>
          <a:xfrm>
            <a:off x="4626455" y="1950145"/>
            <a:ext cx="453518" cy="453529"/>
          </a:xfrm>
          <a:prstGeom prst="roundRect">
            <a:avLst>
              <a:gd name="adj" fmla="val 12005"/>
            </a:avLst>
          </a:prstGeom>
          <a:solidFill>
            <a:srgbClr val="D2DCF9"/>
          </a:solidFill>
        </p:spPr>
        <p:txBody>
          <a:bodyPr/>
          <a:lstStyle/>
          <a:p/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762480" y="2086173"/>
            <a:ext cx="181467" cy="18147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26455" y="2501700"/>
            <a:ext cx="3121641" cy="48081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50" dirty="0">
                <a:solidFill>
                  <a:srgbClr val="101A3A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A data-backed recommendation of the best deployable model per disease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609585" y="3380680"/>
            <a:ext cx="3616830" cy="1526084"/>
          </a:xfrm>
          <a:prstGeom prst="roundRect">
            <a:avLst>
              <a:gd name="adj" fmla="val 10703"/>
            </a:avLst>
          </a:prstGeom>
          <a:noFill/>
          <a:ln w="19050">
            <a:solidFill>
              <a:srgbClr val="B8C2DF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Shape 8"/>
          <p:cNvSpPr/>
          <p:nvPr/>
        </p:nvSpPr>
        <p:spPr>
          <a:xfrm>
            <a:off x="857229" y="3628330"/>
            <a:ext cx="453518" cy="453529"/>
          </a:xfrm>
          <a:prstGeom prst="roundRect">
            <a:avLst>
              <a:gd name="adj" fmla="val 12005"/>
            </a:avLst>
          </a:prstGeom>
          <a:solidFill>
            <a:srgbClr val="D2DCF9"/>
          </a:solidFill>
        </p:spPr>
        <p:txBody>
          <a:bodyPr/>
          <a:lstStyle/>
          <a:p/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93254" y="3764359"/>
            <a:ext cx="181467" cy="18147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57229" y="4179886"/>
            <a:ext cx="3121542" cy="48081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50" dirty="0">
                <a:solidFill>
                  <a:srgbClr val="101A3A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Compressed models with a measured size, speed, and accuracy trade-off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4378811" y="3380680"/>
            <a:ext cx="3616929" cy="1526084"/>
          </a:xfrm>
          <a:prstGeom prst="roundRect">
            <a:avLst>
              <a:gd name="adj" fmla="val 10703"/>
            </a:avLst>
          </a:prstGeom>
          <a:noFill/>
          <a:ln w="19050">
            <a:solidFill>
              <a:srgbClr val="B8C2DF"/>
            </a:solidFill>
            <a:prstDash val="solid"/>
          </a:ln>
        </p:spPr>
        <p:txBody>
          <a:bodyPr/>
          <a:lstStyle/>
          <a:p/>
        </p:txBody>
      </p:sp>
      <p:sp>
        <p:nvSpPr>
          <p:cNvPr id="16" name="Shape 11"/>
          <p:cNvSpPr/>
          <p:nvPr/>
        </p:nvSpPr>
        <p:spPr>
          <a:xfrm>
            <a:off x="4626455" y="3628330"/>
            <a:ext cx="453518" cy="453529"/>
          </a:xfrm>
          <a:prstGeom prst="roundRect">
            <a:avLst>
              <a:gd name="adj" fmla="val 12005"/>
            </a:avLst>
          </a:prstGeom>
          <a:solidFill>
            <a:srgbClr val="D2DCF9"/>
          </a:solidFill>
        </p:spPr>
        <p:txBody>
          <a:bodyPr/>
          <a:lstStyle/>
          <a:p/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762480" y="3764359"/>
            <a:ext cx="181467" cy="18147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626455" y="4179886"/>
            <a:ext cx="3369285" cy="2404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50" dirty="0">
                <a:solidFill>
                  <a:srgbClr val="101A3A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A working prototype: </a:t>
            </a:r>
            <a:r>
              <a:rPr lang="en-US" sz="1450" b="1" dirty="0">
                <a:solidFill>
                  <a:srgbClr val="101A3A"/>
                </a:solidFill>
                <a:latin typeface="Reddit Sans Bold" pitchFamily="34" charset="0"/>
                <a:ea typeface="Reddit Sans Bold" pitchFamily="34" charset="0"/>
                <a:cs typeface="Reddit Sans Bold" pitchFamily="34" charset="0"/>
              </a:rPr>
              <a:t>MalDen-Deploy</a:t>
            </a:r>
            <a:endParaRPr lang="en-US" sz="1450" dirty="0"/>
          </a:p>
        </p:txBody>
      </p:sp>
      <p:sp>
        <p:nvSpPr>
          <p:cNvPr id="19" name="Shape 13"/>
          <p:cNvSpPr/>
          <p:nvPr/>
        </p:nvSpPr>
        <p:spPr>
          <a:xfrm>
            <a:off x="609585" y="5059065"/>
            <a:ext cx="3616830" cy="1525885"/>
          </a:xfrm>
          <a:prstGeom prst="roundRect">
            <a:avLst>
              <a:gd name="adj" fmla="val 10704"/>
            </a:avLst>
          </a:prstGeom>
          <a:noFill/>
          <a:ln w="19050">
            <a:solidFill>
              <a:srgbClr val="B8C2DF"/>
            </a:solidFill>
            <a:prstDash val="solid"/>
          </a:ln>
        </p:spPr>
        <p:txBody>
          <a:bodyPr/>
          <a:lstStyle/>
          <a:p/>
        </p:txBody>
      </p:sp>
      <p:sp>
        <p:nvSpPr>
          <p:cNvPr id="20" name="Shape 14"/>
          <p:cNvSpPr/>
          <p:nvPr/>
        </p:nvSpPr>
        <p:spPr>
          <a:xfrm>
            <a:off x="857229" y="5306715"/>
            <a:ext cx="453518" cy="453529"/>
          </a:xfrm>
          <a:prstGeom prst="roundRect">
            <a:avLst>
              <a:gd name="adj" fmla="val 12005"/>
            </a:avLst>
          </a:prstGeom>
          <a:solidFill>
            <a:srgbClr val="D2DCF9"/>
          </a:solidFill>
        </p:spPr>
        <p:txBody>
          <a:bodyPr/>
          <a:lstStyle/>
          <a:p/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93254" y="5442744"/>
            <a:ext cx="181467" cy="181471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57229" y="5858271"/>
            <a:ext cx="7138511" cy="2404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50" dirty="0">
                <a:solidFill>
                  <a:srgbClr val="101A3A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A framework reusable for other diseases</a:t>
            </a:r>
            <a:endParaRPr lang="en-US" sz="145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062414" y="2647950"/>
            <a:ext cx="1562061" cy="1562100"/>
          </a:xfrm>
          <a:prstGeom prst="rect">
            <a:avLst/>
          </a:prstGeom>
        </p:spPr>
      </p:pic>
      <p:sp>
        <p:nvSpPr>
          <p:cNvPr id="24" name="Shape 13"/>
          <p:cNvSpPr/>
          <p:nvPr/>
        </p:nvSpPr>
        <p:spPr>
          <a:xfrm>
            <a:off x="4378811" y="5059064"/>
            <a:ext cx="3693078" cy="1525885"/>
          </a:xfrm>
          <a:prstGeom prst="roundRect">
            <a:avLst>
              <a:gd name="adj" fmla="val 10704"/>
            </a:avLst>
          </a:prstGeom>
          <a:noFill/>
          <a:ln w="19050">
            <a:solidFill>
              <a:srgbClr val="B8C2DF"/>
            </a:solidFill>
            <a:prstDash val="solid"/>
          </a:ln>
        </p:spPr>
        <p:txBody>
          <a:bodyPr/>
          <a:lstStyle/>
          <a:p/>
        </p:txBody>
      </p:sp>
      <p:sp>
        <p:nvSpPr>
          <p:cNvPr id="26" name="Shape 11"/>
          <p:cNvSpPr/>
          <p:nvPr/>
        </p:nvSpPr>
        <p:spPr>
          <a:xfrm>
            <a:off x="4626455" y="5215980"/>
            <a:ext cx="453518" cy="453529"/>
          </a:xfrm>
          <a:prstGeom prst="roundRect">
            <a:avLst>
              <a:gd name="adj" fmla="val 12005"/>
            </a:avLst>
          </a:prstGeom>
          <a:solidFill>
            <a:srgbClr val="D2DCF9"/>
          </a:solidFill>
        </p:spPr>
        <p:txBody>
          <a:bodyPr/>
          <a:lstStyle/>
          <a:p/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681419" y="5306715"/>
            <a:ext cx="343592" cy="331341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626455" y="5778118"/>
            <a:ext cx="3369285" cy="5305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50">
                <a:latin typeface="Reddit Sans" pitchFamily="34" charset="0"/>
                <a:ea typeface="Reddit Sans" pitchFamily="34" charset="0"/>
                <a:cs typeface="Reddit Sans" pitchFamily="34" charset="0"/>
              </a:rPr>
              <a:t>One custom model per disease, compared against established models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531116"/>
            <a:ext cx="10972526" cy="5211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800" b="1" kern="100" spc="-57" dirty="0">
                <a:solidFill>
                  <a:srgbClr val="101A3A"/>
                </a:solidFill>
                <a:latin typeface="Parkinsans Bold" pitchFamily="34" charset="0"/>
                <a:ea typeface="Parkinsans Bold" pitchFamily="34" charset="0"/>
                <a:cs typeface="Parkinsans Bold" pitchFamily="34" charset="0"/>
              </a:rPr>
              <a:t>Project Timeline and Work Plan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09585" y="2225159"/>
            <a:ext cx="11582110" cy="3377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00" dirty="0">
                <a:solidFill>
                  <a:srgbClr val="101A3A"/>
                </a:solidFill>
                <a:latin typeface="Reddit Sans" pitchFamily="34" charset="0"/>
                <a:ea typeface="Reddit Sans" pitchFamily="34" charset="0"/>
                <a:cs typeface="Reddit Sans" pitchFamily="34" charset="0"/>
              </a:rPr>
              <a:t>Approximately 8 months, with overlapping phases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09585" y="4192389"/>
            <a:ext cx="10972526" cy="28575"/>
          </a:xfrm>
          <a:prstGeom prst="roundRect">
            <a:avLst>
              <a:gd name="adj" fmla="val 49999"/>
            </a:avLst>
          </a:prstGeom>
          <a:solidFill>
            <a:srgbClr val="B8C2DF"/>
          </a:solidFill>
        </p:spPr>
        <p:txBody>
          <a:bodyPr/>
          <a:lstStyle/>
          <a:p/>
        </p:txBody>
      </p:sp>
      <p:sp>
        <p:nvSpPr>
          <p:cNvPr id="5" name="Shape 3"/>
          <p:cNvSpPr/>
          <p:nvPr/>
        </p:nvSpPr>
        <p:spPr>
          <a:xfrm>
            <a:off x="1715648" y="3785989"/>
            <a:ext cx="28574" cy="406400"/>
          </a:xfrm>
          <a:prstGeom prst="roundRect">
            <a:avLst>
              <a:gd name="adj" fmla="val 50000"/>
            </a:avLst>
          </a:prstGeom>
          <a:solidFill>
            <a:srgbClr val="B8C2DF"/>
          </a:solidFill>
        </p:spPr>
        <p:txBody>
          <a:bodyPr/>
          <a:lstStyle/>
          <a:p/>
        </p:txBody>
      </p:sp>
      <p:sp>
        <p:nvSpPr>
          <p:cNvPr id="6" name="Shape 4"/>
          <p:cNvSpPr/>
          <p:nvPr/>
        </p:nvSpPr>
        <p:spPr>
          <a:xfrm>
            <a:off x="1653737" y="4116189"/>
            <a:ext cx="152396" cy="152400"/>
          </a:xfrm>
          <a:prstGeom prst="ellipse">
            <a:avLst/>
          </a:prstGeom>
          <a:solidFill>
            <a:srgbClr val="1F4FE0"/>
          </a:solidFill>
        </p:spPr>
        <p:txBody>
          <a:bodyPr/>
          <a:lstStyle/>
          <a:p/>
        </p:txBody>
      </p:sp>
      <p:sp>
        <p:nvSpPr>
          <p:cNvPr id="7" name="Text 5"/>
          <p:cNvSpPr/>
          <p:nvPr/>
        </p:nvSpPr>
        <p:spPr>
          <a:xfrm>
            <a:off x="812780" y="2741017"/>
            <a:ext cx="1834310" cy="56118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101A3A"/>
                </a:solidFill>
                <a:latin typeface="Reddit Sans Bold" pitchFamily="34" charset="0"/>
                <a:ea typeface="Reddit Sans Bold" pitchFamily="34" charset="0"/>
                <a:cs typeface="Reddit Sans Bold" pitchFamily="34" charset="0"/>
              </a:rPr>
              <a:t>Literature Review and Requirements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962995" y="4192389"/>
            <a:ext cx="28574" cy="406400"/>
          </a:xfrm>
          <a:prstGeom prst="roundRect">
            <a:avLst>
              <a:gd name="adj" fmla="val 50000"/>
            </a:avLst>
          </a:prstGeom>
          <a:solidFill>
            <a:srgbClr val="B8C2DF"/>
          </a:solidFill>
        </p:spPr>
        <p:txBody>
          <a:bodyPr/>
          <a:lstStyle/>
          <a:p/>
        </p:txBody>
      </p:sp>
      <p:sp>
        <p:nvSpPr>
          <p:cNvPr id="9" name="Shape 7"/>
          <p:cNvSpPr/>
          <p:nvPr/>
        </p:nvSpPr>
        <p:spPr>
          <a:xfrm>
            <a:off x="2901084" y="4116189"/>
            <a:ext cx="152396" cy="152400"/>
          </a:xfrm>
          <a:prstGeom prst="ellipse">
            <a:avLst/>
          </a:prstGeom>
          <a:solidFill>
            <a:srgbClr val="1F4FE0"/>
          </a:solidFill>
        </p:spPr>
        <p:txBody>
          <a:bodyPr/>
          <a:lstStyle/>
          <a:p/>
        </p:txBody>
      </p:sp>
      <p:sp>
        <p:nvSpPr>
          <p:cNvPr id="10" name="Text 8"/>
          <p:cNvSpPr/>
          <p:nvPr/>
        </p:nvSpPr>
        <p:spPr>
          <a:xfrm>
            <a:off x="2060127" y="4801989"/>
            <a:ext cx="1834410" cy="56118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101A3A"/>
                </a:solidFill>
                <a:latin typeface="Reddit Sans Bold" pitchFamily="34" charset="0"/>
                <a:ea typeface="Reddit Sans Bold" pitchFamily="34" charset="0"/>
                <a:cs typeface="Reddit Sans Bold" pitchFamily="34" charset="0"/>
              </a:rPr>
              <a:t>Data Collection and Preprocessing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210342" y="3785989"/>
            <a:ext cx="28574" cy="406400"/>
          </a:xfrm>
          <a:prstGeom prst="roundRect">
            <a:avLst>
              <a:gd name="adj" fmla="val 50000"/>
            </a:avLst>
          </a:prstGeom>
          <a:solidFill>
            <a:srgbClr val="B8C2DF"/>
          </a:solidFill>
        </p:spPr>
        <p:txBody>
          <a:bodyPr/>
          <a:lstStyle/>
          <a:p/>
        </p:txBody>
      </p:sp>
      <p:sp>
        <p:nvSpPr>
          <p:cNvPr id="12" name="Shape 10"/>
          <p:cNvSpPr/>
          <p:nvPr/>
        </p:nvSpPr>
        <p:spPr>
          <a:xfrm>
            <a:off x="4148431" y="4116189"/>
            <a:ext cx="152396" cy="152400"/>
          </a:xfrm>
          <a:prstGeom prst="ellipse">
            <a:avLst/>
          </a:prstGeom>
          <a:solidFill>
            <a:srgbClr val="1F4FE0"/>
          </a:solidFill>
        </p:spPr>
        <p:txBody>
          <a:bodyPr/>
          <a:lstStyle/>
          <a:p/>
        </p:txBody>
      </p:sp>
      <p:sp>
        <p:nvSpPr>
          <p:cNvPr id="13" name="Text 11"/>
          <p:cNvSpPr/>
          <p:nvPr/>
        </p:nvSpPr>
        <p:spPr>
          <a:xfrm>
            <a:off x="3307474" y="2741017"/>
            <a:ext cx="1834410" cy="56118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101A3A"/>
                </a:solidFill>
                <a:latin typeface="Reddit Sans Bold" pitchFamily="34" charset="0"/>
                <a:ea typeface="Reddit Sans Bold" pitchFamily="34" charset="0"/>
                <a:cs typeface="Reddit Sans Bold" pitchFamily="34" charset="0"/>
              </a:rPr>
              <a:t>Malaria Model Benchmark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57788" y="4192389"/>
            <a:ext cx="28574" cy="406400"/>
          </a:xfrm>
          <a:prstGeom prst="roundRect">
            <a:avLst>
              <a:gd name="adj" fmla="val 50000"/>
            </a:avLst>
          </a:prstGeom>
          <a:solidFill>
            <a:srgbClr val="B8C2DF"/>
          </a:solidFill>
        </p:spPr>
        <p:txBody>
          <a:bodyPr/>
          <a:lstStyle/>
          <a:p/>
        </p:txBody>
      </p:sp>
      <p:sp>
        <p:nvSpPr>
          <p:cNvPr id="15" name="Shape 13"/>
          <p:cNvSpPr/>
          <p:nvPr/>
        </p:nvSpPr>
        <p:spPr>
          <a:xfrm>
            <a:off x="5395877" y="4116189"/>
            <a:ext cx="152396" cy="152400"/>
          </a:xfrm>
          <a:prstGeom prst="ellipse">
            <a:avLst/>
          </a:prstGeom>
          <a:solidFill>
            <a:srgbClr val="1F4FE0"/>
          </a:solidFill>
        </p:spPr>
        <p:txBody>
          <a:bodyPr/>
          <a:lstStyle/>
          <a:p/>
        </p:txBody>
      </p:sp>
      <p:sp>
        <p:nvSpPr>
          <p:cNvPr id="16" name="Text 14"/>
          <p:cNvSpPr/>
          <p:nvPr/>
        </p:nvSpPr>
        <p:spPr>
          <a:xfrm>
            <a:off x="4554920" y="4801989"/>
            <a:ext cx="1834410" cy="56118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101A3A"/>
                </a:solidFill>
                <a:latin typeface="Reddit Sans Bold" pitchFamily="34" charset="0"/>
                <a:ea typeface="Reddit Sans Bold" pitchFamily="34" charset="0"/>
                <a:cs typeface="Reddit Sans Bold" pitchFamily="34" charset="0"/>
              </a:rPr>
              <a:t>Dengue Model Benchmark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705135" y="3785989"/>
            <a:ext cx="28574" cy="406400"/>
          </a:xfrm>
          <a:prstGeom prst="roundRect">
            <a:avLst>
              <a:gd name="adj" fmla="val 50000"/>
            </a:avLst>
          </a:prstGeom>
          <a:solidFill>
            <a:srgbClr val="B8C2DF"/>
          </a:solidFill>
        </p:spPr>
        <p:txBody>
          <a:bodyPr/>
          <a:lstStyle/>
          <a:p/>
        </p:txBody>
      </p:sp>
      <p:sp>
        <p:nvSpPr>
          <p:cNvPr id="18" name="Shape 16"/>
          <p:cNvSpPr/>
          <p:nvPr/>
        </p:nvSpPr>
        <p:spPr>
          <a:xfrm>
            <a:off x="6643224" y="4116189"/>
            <a:ext cx="152396" cy="152400"/>
          </a:xfrm>
          <a:prstGeom prst="ellipse">
            <a:avLst/>
          </a:prstGeom>
          <a:solidFill>
            <a:srgbClr val="1F4FE0"/>
          </a:solidFill>
        </p:spPr>
        <p:txBody>
          <a:bodyPr/>
          <a:lstStyle/>
          <a:p/>
        </p:txBody>
      </p:sp>
      <p:sp>
        <p:nvSpPr>
          <p:cNvPr id="19" name="Text 17"/>
          <p:cNvSpPr/>
          <p:nvPr/>
        </p:nvSpPr>
        <p:spPr>
          <a:xfrm>
            <a:off x="5802267" y="2741017"/>
            <a:ext cx="1834410" cy="8417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101A3A"/>
                </a:solidFill>
                <a:latin typeface="Reddit Sans Bold" pitchFamily="34" charset="0"/>
                <a:ea typeface="Reddit Sans Bold" pitchFamily="34" charset="0"/>
                <a:cs typeface="Reddit Sans Bold" pitchFamily="34" charset="0"/>
              </a:rPr>
              <a:t>Compression and Deployability Scoring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952581" y="4192389"/>
            <a:ext cx="28574" cy="406400"/>
          </a:xfrm>
          <a:prstGeom prst="roundRect">
            <a:avLst>
              <a:gd name="adj" fmla="val 50000"/>
            </a:avLst>
          </a:prstGeom>
          <a:solidFill>
            <a:srgbClr val="B8C2DF"/>
          </a:solidFill>
        </p:spPr>
        <p:txBody>
          <a:bodyPr/>
          <a:lstStyle/>
          <a:p/>
        </p:txBody>
      </p:sp>
      <p:sp>
        <p:nvSpPr>
          <p:cNvPr id="21" name="Shape 19"/>
          <p:cNvSpPr/>
          <p:nvPr/>
        </p:nvSpPr>
        <p:spPr>
          <a:xfrm>
            <a:off x="7890670" y="4116189"/>
            <a:ext cx="152396" cy="152400"/>
          </a:xfrm>
          <a:prstGeom prst="ellipse">
            <a:avLst/>
          </a:prstGeom>
          <a:solidFill>
            <a:srgbClr val="1F4FE0"/>
          </a:solidFill>
        </p:spPr>
        <p:txBody>
          <a:bodyPr/>
          <a:lstStyle/>
          <a:p/>
        </p:txBody>
      </p:sp>
      <p:sp>
        <p:nvSpPr>
          <p:cNvPr id="22" name="Text 20"/>
          <p:cNvSpPr/>
          <p:nvPr/>
        </p:nvSpPr>
        <p:spPr>
          <a:xfrm>
            <a:off x="7049713" y="4801989"/>
            <a:ext cx="1834410" cy="56118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101A3A"/>
                </a:solidFill>
                <a:latin typeface="Reddit Sans Bold" pitchFamily="34" charset="0"/>
                <a:ea typeface="Reddit Sans Bold" pitchFamily="34" charset="0"/>
                <a:cs typeface="Reddit Sans Bold" pitchFamily="34" charset="0"/>
              </a:rPr>
              <a:t>Application Development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9199928" y="3785989"/>
            <a:ext cx="28574" cy="406400"/>
          </a:xfrm>
          <a:prstGeom prst="roundRect">
            <a:avLst>
              <a:gd name="adj" fmla="val 50000"/>
            </a:avLst>
          </a:prstGeom>
          <a:solidFill>
            <a:srgbClr val="B8C2DF"/>
          </a:solidFill>
        </p:spPr>
        <p:txBody>
          <a:bodyPr/>
          <a:lstStyle/>
          <a:p/>
        </p:txBody>
      </p:sp>
      <p:sp>
        <p:nvSpPr>
          <p:cNvPr id="24" name="Shape 22"/>
          <p:cNvSpPr/>
          <p:nvPr/>
        </p:nvSpPr>
        <p:spPr>
          <a:xfrm>
            <a:off x="9138017" y="4116189"/>
            <a:ext cx="152396" cy="152400"/>
          </a:xfrm>
          <a:prstGeom prst="ellipse">
            <a:avLst/>
          </a:prstGeom>
          <a:solidFill>
            <a:srgbClr val="1F4FE0"/>
          </a:solidFill>
        </p:spPr>
        <p:txBody>
          <a:bodyPr/>
          <a:lstStyle/>
          <a:p/>
        </p:txBody>
      </p:sp>
      <p:sp>
        <p:nvSpPr>
          <p:cNvPr id="25" name="Text 23"/>
          <p:cNvSpPr/>
          <p:nvPr/>
        </p:nvSpPr>
        <p:spPr>
          <a:xfrm>
            <a:off x="8297060" y="2741017"/>
            <a:ext cx="1834410" cy="56118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101A3A"/>
                </a:solidFill>
                <a:latin typeface="Reddit Sans Bold" pitchFamily="34" charset="0"/>
                <a:ea typeface="Reddit Sans Bold" pitchFamily="34" charset="0"/>
                <a:cs typeface="Reddit Sans Bold" pitchFamily="34" charset="0"/>
              </a:rPr>
              <a:t>Integration and Testing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10447374" y="4192389"/>
            <a:ext cx="28574" cy="406400"/>
          </a:xfrm>
          <a:prstGeom prst="roundRect">
            <a:avLst>
              <a:gd name="adj" fmla="val 50000"/>
            </a:avLst>
          </a:prstGeom>
          <a:solidFill>
            <a:srgbClr val="B8C2DF"/>
          </a:solidFill>
        </p:spPr>
        <p:txBody>
          <a:bodyPr/>
          <a:lstStyle/>
          <a:p/>
        </p:txBody>
      </p:sp>
      <p:sp>
        <p:nvSpPr>
          <p:cNvPr id="27" name="Shape 25"/>
          <p:cNvSpPr/>
          <p:nvPr/>
        </p:nvSpPr>
        <p:spPr>
          <a:xfrm>
            <a:off x="10385463" y="4116189"/>
            <a:ext cx="152396" cy="152400"/>
          </a:xfrm>
          <a:prstGeom prst="ellipse">
            <a:avLst/>
          </a:prstGeom>
          <a:solidFill>
            <a:srgbClr val="1F4FE0"/>
          </a:solidFill>
        </p:spPr>
        <p:txBody>
          <a:bodyPr/>
          <a:lstStyle/>
          <a:p/>
        </p:txBody>
      </p:sp>
      <p:sp>
        <p:nvSpPr>
          <p:cNvPr id="28" name="Text 26"/>
          <p:cNvSpPr/>
          <p:nvPr/>
        </p:nvSpPr>
        <p:spPr>
          <a:xfrm>
            <a:off x="9544506" y="4801989"/>
            <a:ext cx="1834310" cy="56118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101A3A"/>
                </a:solidFill>
                <a:latin typeface="Reddit Sans Bold" pitchFamily="34" charset="0"/>
                <a:ea typeface="Reddit Sans Bold" pitchFamily="34" charset="0"/>
                <a:cs typeface="Reddit Sans Bold" pitchFamily="34" charset="0"/>
              </a:rPr>
              <a:t>Documentation and Final Defence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05" y="396339"/>
            <a:ext cx="10972526" cy="5211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800" b="1" kern="100" spc="-57" dirty="0">
                <a:solidFill>
                  <a:srgbClr val="101A3A"/>
                </a:solidFill>
                <a:latin typeface="Parkinsans Bold" pitchFamily="34" charset="0"/>
                <a:ea typeface="Parkinsans Bold" pitchFamily="34" charset="0"/>
                <a:cs typeface="Parkinsans Bold" pitchFamily="34" charset="0"/>
              </a:rPr>
              <a:t>Conclusion, References and Q&amp;A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73905" y="1497422"/>
            <a:ext cx="11582110" cy="3377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00" b="1" dirty="0">
                <a:latin typeface="Reddit Sans" pitchFamily="34" charset="0"/>
                <a:ea typeface="Reddit Sans" pitchFamily="34" charset="0"/>
                <a:cs typeface="Reddit Sans" pitchFamily="34" charset="0"/>
              </a:rPr>
              <a:t>Key Takeaway:</a:t>
            </a:r>
            <a:r>
              <a:rPr lang="en-US" sz="1900" dirty="0">
                <a:latin typeface="Reddit Sans" pitchFamily="34" charset="0"/>
                <a:ea typeface="Reddit Sans" pitchFamily="34" charset="0"/>
                <a:cs typeface="Reddit Sans" pitchFamily="34" charset="0"/>
              </a:rPr>
              <a:t> The best model is not the most accurate. It is the most </a:t>
            </a:r>
            <a:r>
              <a:rPr lang="en-US" sz="1900" b="1" dirty="0">
                <a:latin typeface="Reddit Sans" pitchFamily="34" charset="0"/>
                <a:ea typeface="Reddit Sans" pitchFamily="34" charset="0"/>
                <a:cs typeface="Reddit Sans" pitchFamily="34" charset="0"/>
              </a:rPr>
              <a:t>deployable</a:t>
            </a:r>
            <a:r>
              <a:rPr lang="en-US" sz="1900" dirty="0">
                <a:latin typeface="Reddit Sans" pitchFamily="34" charset="0"/>
                <a:ea typeface="Reddit Sans" pitchFamily="34" charset="0"/>
                <a:cs typeface="Reddit Sans" pitchFamily="34" charset="0"/>
              </a:rPr>
              <a:t>.</a:t>
            </a:r>
          </a:p>
        </p:txBody>
      </p:sp>
      <p:sp>
        <p:nvSpPr>
          <p:cNvPr id="29" name="Text 1"/>
          <p:cNvSpPr/>
          <p:nvPr/>
        </p:nvSpPr>
        <p:spPr>
          <a:xfrm>
            <a:off x="473905" y="2095711"/>
            <a:ext cx="11582110" cy="4117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900" b="1" dirty="0">
              <a:latin typeface="Reddit Sans" pitchFamily="34" charset="0"/>
              <a:ea typeface="Reddit Sans" pitchFamily="34" charset="0"/>
              <a:cs typeface="Reddit Sans" pitchFamily="34" charset="0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900" b="1" dirty="0">
              <a:latin typeface="Reddit Sans" pitchFamily="34" charset="0"/>
              <a:ea typeface="Reddit Sans" pitchFamily="34" charset="0"/>
              <a:cs typeface="Reddit Sans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75229" y="2003266"/>
            <a:ext cx="10754403" cy="4644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>
                <a:latin typeface="Reddit Sans" pitchFamily="34" charset="0"/>
                <a:ea typeface="Reddit Sans" pitchFamily="34" charset="0"/>
                <a:cs typeface="Reddit Sans" pitchFamily="34" charset="0"/>
              </a:rPr>
              <a:t>References:</a:t>
            </a:r>
          </a:p>
          <a:p>
            <a:endParaRPr lang="en-US" sz="1900" b="1" dirty="0">
              <a:latin typeface="Reddit Sans" pitchFamily="34" charset="0"/>
              <a:ea typeface="Reddit Sans" pitchFamily="34" charset="0"/>
              <a:cs typeface="Reddit Sans" pitchFamily="34" charset="0"/>
            </a:endParaRP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>
                <a:latin typeface="Reddit Sans" pitchFamily="34" charset="0"/>
                <a:ea typeface="Reddit Sans" pitchFamily="34" charset="0"/>
                <a:cs typeface="Reddit Sans" pitchFamily="34" charset="0"/>
                <a:hlinkClick r:id="rId1"/>
              </a:rPr>
              <a:t>WHO, World Malaria Report 2024</a:t>
            </a:r>
            <a:endParaRPr lang="en-US">
              <a:latin typeface="Reddit Sans" pitchFamily="34" charset="0"/>
              <a:ea typeface="Reddit Sans" pitchFamily="34" charset="0"/>
              <a:cs typeface="Reddit Sans" pitchFamily="34" charset="0"/>
            </a:endParaRP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>
                <a:latin typeface="Reddit Sans" pitchFamily="34" charset="0"/>
                <a:ea typeface="Reddit Sans" pitchFamily="34" charset="0"/>
                <a:cs typeface="Reddit Sans" pitchFamily="34" charset="0"/>
                <a:hlinkClick r:id="rId2"/>
              </a:rPr>
              <a:t>Haider N. et al., Global dengue epidemic 2024, Int. J. Infect. Dis., 2025</a:t>
            </a:r>
            <a:endParaRPr lang="en-US">
              <a:latin typeface="Reddit Sans" pitchFamily="34" charset="0"/>
              <a:ea typeface="Reddit Sans" pitchFamily="34" charset="0"/>
              <a:cs typeface="Reddit Sans" pitchFamily="34" charset="0"/>
            </a:endParaRP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>
                <a:latin typeface="Reddit Sans" pitchFamily="34" charset="0"/>
                <a:ea typeface="Reddit Sans" pitchFamily="34" charset="0"/>
                <a:cs typeface="Reddit Sans" pitchFamily="34" charset="0"/>
                <a:hlinkClick r:id="rId3"/>
              </a:rPr>
              <a:t>Rajaraman S. et al., PeerJ 6:e4568, 2018 (NIH malaria dataset)</a:t>
            </a:r>
            <a:endParaRPr lang="en-US">
              <a:latin typeface="Reddit Sans" pitchFamily="34" charset="0"/>
              <a:ea typeface="Reddit Sans" pitchFamily="34" charset="0"/>
              <a:cs typeface="Reddit Sans" pitchFamily="34" charset="0"/>
            </a:endParaRP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>
                <a:latin typeface="Reddit Sans" pitchFamily="34" charset="0"/>
                <a:ea typeface="Reddit Sans" pitchFamily="34" charset="0"/>
                <a:cs typeface="Reddit Sans" pitchFamily="34" charset="0"/>
                <a:hlinkClick r:id="rId4"/>
              </a:rPr>
              <a:t>Vu D.M. et al., Dengue detection in Kenyan febrile children, PLOS Glob. Public Health, 2023</a:t>
            </a:r>
            <a:endParaRPr lang="en-US">
              <a:latin typeface="Reddit Sans" pitchFamily="34" charset="0"/>
              <a:ea typeface="Reddit Sans" pitchFamily="34" charset="0"/>
              <a:cs typeface="Reddit Sans" pitchFamily="34" charset="0"/>
            </a:endParaRP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>
                <a:latin typeface="Reddit Sans" pitchFamily="34" charset="0"/>
                <a:ea typeface="Reddit Sans" pitchFamily="34" charset="0"/>
                <a:cs typeface="Reddit Sans" pitchFamily="34" charset="0"/>
                <a:hlinkClick r:id="rId5"/>
              </a:rPr>
              <a:t>Hwang &amp; Yoon, Multiple Attribute Decision Making (TOPSIS), 1981</a:t>
            </a:r>
            <a:endParaRPr lang="en-US">
              <a:latin typeface="Reddit Sans" pitchFamily="34" charset="0"/>
              <a:ea typeface="Reddit Sans" pitchFamily="34" charset="0"/>
              <a:cs typeface="Reddit Sans" pitchFamily="34" charset="0"/>
            </a:endParaRPr>
          </a:p>
          <a:p>
            <a:endParaRPr lang="en-US">
              <a:latin typeface="Reddit Sans" pitchFamily="34" charset="0"/>
              <a:ea typeface="Reddit Sans" pitchFamily="34" charset="0"/>
              <a:cs typeface="Reddit Sans" pitchFamily="34" charset="0"/>
            </a:endParaRPr>
          </a:p>
          <a:p>
            <a:r>
              <a:rPr lang="en-US">
                <a:latin typeface="Reddit Sans" pitchFamily="34" charset="0"/>
                <a:ea typeface="Reddit Sans" pitchFamily="34" charset="0"/>
                <a:cs typeface="Reddit Sans" pitchFamily="34" charset="0"/>
              </a:rPr>
              <a:t>Dataset Links:</a:t>
            </a:r>
          </a:p>
          <a:p>
            <a:endParaRPr lang="en-US">
              <a:latin typeface="Reddit Sans" pitchFamily="34" charset="0"/>
              <a:ea typeface="Reddit Sans" pitchFamily="34" charset="0"/>
              <a:cs typeface="Reddit Sans" pitchFamily="34" charset="0"/>
            </a:endParaRP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>
                <a:latin typeface="Reddit Sans" pitchFamily="34" charset="0"/>
                <a:ea typeface="Reddit Sans" pitchFamily="34" charset="0"/>
                <a:cs typeface="Reddit Sans" pitchFamily="34" charset="0"/>
              </a:rPr>
              <a:t>Malaria Dataset (</a:t>
            </a:r>
            <a:r>
              <a:rPr lang="en-US">
                <a:latin typeface="Reddit Sans" pitchFamily="34" charset="0"/>
                <a:ea typeface="Reddit Sans" pitchFamily="34" charset="0"/>
                <a:cs typeface="Reddit Sans" pitchFamily="34" charset="0"/>
                <a:hlinkClick r:id="rId6"/>
              </a:rPr>
              <a:t>https://www.kaggle.com/datasets/iarunava/cell-images-for-detecting-malaria</a:t>
            </a:r>
            <a:r>
              <a:rPr lang="en-US">
                <a:latin typeface="Reddit Sans" pitchFamily="34" charset="0"/>
                <a:ea typeface="Reddit Sans" pitchFamily="34" charset="0"/>
                <a:cs typeface="Reddit Sans" pitchFamily="34" charset="0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>
                <a:latin typeface="Reddit Sans" pitchFamily="34" charset="0"/>
                <a:ea typeface="Reddit Sans" pitchFamily="34" charset="0"/>
                <a:cs typeface="Reddit Sans" pitchFamily="34" charset="0"/>
              </a:rPr>
              <a:t>Dengue Dataset (</a:t>
            </a:r>
            <a:r>
              <a:rPr lang="en-US">
                <a:latin typeface="Reddit Sans" pitchFamily="34" charset="0"/>
                <a:ea typeface="Reddit Sans" pitchFamily="34" charset="0"/>
                <a:cs typeface="Reddit Sans" pitchFamily="34" charset="0"/>
                <a:hlinkClick r:id="rId7"/>
              </a:rPr>
              <a:t>https://data.mendeley.com/datasets/6fsrsk3mb8</a:t>
            </a:r>
            <a:r>
              <a:rPr lang="en-US">
                <a:latin typeface="Reddit Sans" pitchFamily="34" charset="0"/>
                <a:ea typeface="Reddit Sans" pitchFamily="34" charset="0"/>
                <a:cs typeface="Reddit Sans" pitchFamily="34" charset="0"/>
              </a:rPr>
              <a:t>)</a:t>
            </a:r>
          </a:p>
          <a:p>
            <a:endParaRPr lang="en-US">
              <a:latin typeface="Reddit Sans" pitchFamily="34" charset="0"/>
              <a:ea typeface="Reddit Sans" pitchFamily="34" charset="0"/>
              <a:cs typeface="Reddit Sans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riyyan hassan</cp:lastModifiedBy>
  <cp:revision>1</cp:revision>
  <dcterms:created xsi:type="dcterms:W3CDTF">2026-10-17T12:20:40Z</dcterms:created>
  <dcterms:modified xsi:type="dcterms:W3CDTF">2026-10-21T09:11:23Z</dcterms:modified>
</cp:coreProperties>
</file>